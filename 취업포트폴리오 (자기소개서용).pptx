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5" r:id="rId1"/>
  </p:sldMasterIdLst>
  <p:notesMasterIdLst>
    <p:notesMasterId r:id="rId14"/>
  </p:notesMasterIdLst>
  <p:handoutMasterIdLst>
    <p:handoutMasterId r:id="rId15"/>
  </p:handoutMasterIdLst>
  <p:sldIdLst>
    <p:sldId id="577" r:id="rId2"/>
    <p:sldId id="583" r:id="rId3"/>
    <p:sldId id="611" r:id="rId4"/>
    <p:sldId id="612" r:id="rId5"/>
    <p:sldId id="613" r:id="rId6"/>
    <p:sldId id="614" r:id="rId7"/>
    <p:sldId id="589" r:id="rId8"/>
    <p:sldId id="578" r:id="rId9"/>
    <p:sldId id="592" r:id="rId10"/>
    <p:sldId id="610" r:id="rId11"/>
    <p:sldId id="579" r:id="rId12"/>
    <p:sldId id="609" r:id="rId13"/>
  </p:sldIdLst>
  <p:sldSz cx="16256000" cy="9144000"/>
  <p:notesSz cx="9926638" cy="6797675"/>
  <p:embeddedFontLst>
    <p:embeddedFont>
      <p:font typeface="맑은 고딕" panose="020B0503020000020004" pitchFamily="50" charset="-127"/>
      <p:regular r:id="rId16"/>
      <p:bold r:id="rId17"/>
    </p:embeddedFont>
    <p:embeddedFont>
      <p:font typeface="HY얕은샘물M" panose="02030600000101010101" pitchFamily="18" charset="-127"/>
      <p:regular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나눔고딕" panose="020B0600000101010101" charset="-127"/>
      <p:regular r:id="rId23"/>
      <p:bold r:id="rId24"/>
    </p:embeddedFont>
    <p:embeddedFont>
      <p:font typeface="Calibri Light" panose="020F0302020204030204" pitchFamily="34" charset="0"/>
      <p:regular r:id="rId25"/>
      <p:italic r:id="rId26"/>
    </p:embeddedFont>
    <p:embeddedFont>
      <p:font typeface="나눔고딕 ExtraBold" panose="020B0600000101010101" charset="-127"/>
      <p:bold r:id="rId2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9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EFDF"/>
    <a:srgbClr val="3557AF"/>
    <a:srgbClr val="F8F8F8"/>
    <a:srgbClr val="888888"/>
    <a:srgbClr val="A6A6A6"/>
    <a:srgbClr val="CCECFF"/>
    <a:srgbClr val="404040"/>
    <a:srgbClr val="D9D9D9"/>
    <a:srgbClr val="10298E"/>
    <a:srgbClr val="A897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41" autoAdjust="0"/>
    <p:restoredTop sz="96310" autoAdjust="0"/>
  </p:normalViewPr>
  <p:slideViewPr>
    <p:cSldViewPr snapToGrid="0">
      <p:cViewPr>
        <p:scale>
          <a:sx n="95" d="100"/>
          <a:sy n="95" d="100"/>
        </p:scale>
        <p:origin x="384" y="-276"/>
      </p:cViewPr>
      <p:guideLst>
        <p:guide orient="horz" pos="2880"/>
        <p:guide pos="39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oi minju" userId="3b97c15e83329597" providerId="LiveId" clId="{A09805B5-10B0-464C-A8F6-2A453176ACEB}"/>
    <pc:docChg chg="modSld">
      <pc:chgData name="choi minju" userId="3b97c15e83329597" providerId="LiveId" clId="{A09805B5-10B0-464C-A8F6-2A453176ACEB}" dt="2022-03-03T11:38:50.017" v="2" actId="14734"/>
      <pc:docMkLst>
        <pc:docMk/>
      </pc:docMkLst>
      <pc:sldChg chg="modSp mod">
        <pc:chgData name="choi minju" userId="3b97c15e83329597" providerId="LiveId" clId="{A09805B5-10B0-464C-A8F6-2A453176ACEB}" dt="2022-03-03T11:38:50.017" v="2" actId="14734"/>
        <pc:sldMkLst>
          <pc:docMk/>
          <pc:sldMk cId="3795123711" sldId="583"/>
        </pc:sldMkLst>
        <pc:graphicFrameChg chg="modGraphic">
          <ac:chgData name="choi minju" userId="3b97c15e83329597" providerId="LiveId" clId="{A09805B5-10B0-464C-A8F6-2A453176ACEB}" dt="2022-03-03T11:38:50.017" v="2" actId="14734"/>
          <ac:graphicFrameMkLst>
            <pc:docMk/>
            <pc:sldMk cId="3795123711" sldId="583"/>
            <ac:graphicFrameMk id="2" creationId="{00000000-0000-0000-0000-000000000000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1697" y="1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33BFDD-E278-4487-8B4D-117952789101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1697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769298-85D4-4D41-80B7-552EF1517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026644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2801" y="2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2D73C7-A8BA-46AD-953D-3357A72466DE}" type="datetimeFigureOut">
              <a:rPr lang="ko-KR" altLang="en-US" smtClean="0"/>
              <a:pPr/>
              <a:t>2026-06-19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50900"/>
            <a:ext cx="4075112" cy="2292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665" y="3271382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6456612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2801" y="6456612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A224C9-E110-4FFD-ADD3-6B449588A64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070377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952C0-8943-4353-BDED-36C40E3AE88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457496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952C0-8943-4353-BDED-36C40E3AE88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983526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133" y="2279652"/>
            <a:ext cx="140208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9133" y="6119285"/>
            <a:ext cx="140208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952C0-8943-4353-BDED-36C40E3AE88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645695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952C0-8943-4353-BDED-36C40E3AE88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562488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486834"/>
            <a:ext cx="14020800" cy="1767417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9718" y="2241551"/>
            <a:ext cx="6877049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9718" y="3340100"/>
            <a:ext cx="6877049" cy="491278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29600" y="2241551"/>
            <a:ext cx="691091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29600" y="3340100"/>
            <a:ext cx="6910917" cy="491278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952C0-8943-4353-BDED-36C40E3AE88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531537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952C0-8943-4353-BDED-36C40E3AE88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98168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952C0-8943-4353-BDED-36C40E3AE88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9247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952C0-8943-4353-BDED-36C40E3AE88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252997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917" y="1316567"/>
            <a:ext cx="822960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952C0-8943-4353-BDED-36C40E3AE88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3585558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952C0-8943-4353-BDED-36C40E3AE88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03134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952C0-8943-4353-BDED-36C40E3AE88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023302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952C0-8943-4353-BDED-36C40E3AE88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6359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952C0-8943-4353-BDED-36C40E3AE88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7" name="Picture 17"/>
          <p:cNvPicPr>
            <a:picLocks noChangeAspect="1" noChangeArrowheads="1"/>
          </p:cNvPicPr>
          <p:nvPr userDrawn="1"/>
        </p:nvPicPr>
        <p:blipFill>
          <a:blip r:embed="rId1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7143" y="8785226"/>
            <a:ext cx="1994370" cy="31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직선 연결선 7"/>
          <p:cNvCxnSpPr/>
          <p:nvPr userDrawn="1"/>
        </p:nvCxnSpPr>
        <p:spPr>
          <a:xfrm>
            <a:off x="105364" y="766763"/>
            <a:ext cx="16007644" cy="0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58881" y="8785226"/>
            <a:ext cx="2322584" cy="311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756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697" r:id="rId12"/>
  </p:sldLayoutIdLst>
  <p:hf sldNum="0" hdr="0" ftr="0" dt="0"/>
  <p:txStyles>
    <p:titleStyle>
      <a:lvl1pPr algn="l" defTabSz="1219170" rtl="0" eaLnBrk="1" latinLnBrk="1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1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eoulpn.com/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622180"/>
              </p:ext>
            </p:extLst>
          </p:nvPr>
        </p:nvGraphicFramePr>
        <p:xfrm>
          <a:off x="5024685" y="1403648"/>
          <a:ext cx="6234964" cy="415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24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4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91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91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과목명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EF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EF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관련 과제물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EF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팀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개인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E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latinLnBrk="1"/>
                      <a:endParaRPr lang="ko-KR" altLang="en-US" sz="1100" kern="1200" dirty="0">
                        <a:solidFill>
                          <a:schemeClr val="accent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kern="1200" dirty="0">
                        <a:solidFill>
                          <a:schemeClr val="accent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kern="1200" dirty="0">
                        <a:solidFill>
                          <a:schemeClr val="accent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kern="1200" dirty="0">
                        <a:solidFill>
                          <a:schemeClr val="accent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latinLnBrk="1"/>
                      <a:endParaRPr lang="ko-KR" altLang="en-US" sz="1100" kern="1200" dirty="0">
                        <a:solidFill>
                          <a:schemeClr val="accent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kern="1200" dirty="0">
                        <a:solidFill>
                          <a:schemeClr val="accent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kern="1200" dirty="0">
                        <a:solidFill>
                          <a:schemeClr val="accent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kern="1200" dirty="0">
                        <a:solidFill>
                          <a:schemeClr val="accent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latinLnBrk="1"/>
                      <a:endParaRPr lang="ko-KR" altLang="en-US" sz="1100" kern="1200" dirty="0">
                        <a:solidFill>
                          <a:schemeClr val="accent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kern="1200" dirty="0">
                        <a:solidFill>
                          <a:schemeClr val="accent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kern="1200" dirty="0">
                        <a:solidFill>
                          <a:schemeClr val="accent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kern="1200" dirty="0">
                        <a:solidFill>
                          <a:schemeClr val="accent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latinLnBrk="1"/>
                      <a:endParaRPr lang="ko-KR" altLang="en-US" sz="1100" kern="1200" dirty="0">
                        <a:solidFill>
                          <a:schemeClr val="accent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kern="1200" dirty="0">
                        <a:solidFill>
                          <a:schemeClr val="accent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kern="1200" dirty="0">
                        <a:solidFill>
                          <a:schemeClr val="accent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kern="1200" dirty="0">
                        <a:solidFill>
                          <a:schemeClr val="accent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latinLnBrk="1"/>
                      <a:endParaRPr lang="ko-KR" altLang="en-US" sz="1100" kern="1200" dirty="0">
                        <a:solidFill>
                          <a:schemeClr val="accent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kern="1200" dirty="0">
                        <a:solidFill>
                          <a:schemeClr val="accent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kern="1200" dirty="0">
                        <a:solidFill>
                          <a:schemeClr val="accent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kern="1200" dirty="0">
                        <a:solidFill>
                          <a:schemeClr val="accent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latinLnBrk="1"/>
                      <a:endParaRPr lang="ko-KR" altLang="en-US" sz="1100" kern="1200" dirty="0">
                        <a:solidFill>
                          <a:schemeClr val="accent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kern="1200" dirty="0">
                        <a:solidFill>
                          <a:schemeClr val="accent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kern="1200" dirty="0">
                        <a:solidFill>
                          <a:schemeClr val="accent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kern="1200" dirty="0">
                        <a:solidFill>
                          <a:schemeClr val="accent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latinLnBrk="1"/>
                      <a:endParaRPr lang="ko-KR" altLang="en-US" sz="1100" kern="1200" dirty="0">
                        <a:solidFill>
                          <a:schemeClr val="accent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kern="1200" dirty="0">
                        <a:solidFill>
                          <a:schemeClr val="accent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kern="1200" dirty="0">
                        <a:solidFill>
                          <a:schemeClr val="accent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kern="1200" dirty="0">
                        <a:solidFill>
                          <a:schemeClr val="accent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148693"/>
              </p:ext>
            </p:extLst>
          </p:nvPr>
        </p:nvGraphicFramePr>
        <p:xfrm>
          <a:off x="5024685" y="6163032"/>
          <a:ext cx="6235304" cy="253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2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53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84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30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</a:rPr>
                        <a:t>활동명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EF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주요 역할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EF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성공경험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EF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실패경험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EF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느끼고 배운 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E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7"/>
          <p:cNvSpPr txBox="1">
            <a:spLocks noChangeArrowheads="1"/>
          </p:cNvSpPr>
          <p:nvPr/>
        </p:nvSpPr>
        <p:spPr bwMode="auto">
          <a:xfrm>
            <a:off x="4801507" y="391885"/>
            <a:ext cx="484759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kumimoji="0" lang="en-US" altLang="ko-KR" sz="1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endParaRPr kumimoji="0" lang="ko-KR" altLang="en-US" sz="16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08569" y="741622"/>
            <a:ext cx="432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b="1" dirty="0">
                <a:latin typeface="+mn-ea"/>
              </a:rPr>
              <a:t>학과 직무 역량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9369" y="5669223"/>
            <a:ext cx="432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b="1" dirty="0">
                <a:latin typeface="+mn-ea"/>
              </a:rPr>
              <a:t>교내 활동 분석 </a:t>
            </a:r>
            <a:r>
              <a:rPr lang="en-US" altLang="ko-KR" sz="1600" b="1" dirty="0">
                <a:latin typeface="+mn-ea"/>
              </a:rPr>
              <a:t>( </a:t>
            </a:r>
            <a:r>
              <a:rPr lang="ko-KR" altLang="en-US" sz="1600" b="1" dirty="0">
                <a:latin typeface="+mn-ea"/>
              </a:rPr>
              <a:t>과제 및 동아리 등 </a:t>
            </a:r>
            <a:r>
              <a:rPr lang="en-US" altLang="ko-KR" sz="1600" b="1" dirty="0">
                <a:latin typeface="+mn-ea"/>
              </a:rPr>
              <a:t>) </a:t>
            </a:r>
            <a:endParaRPr lang="ko-KR" altLang="en-US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05829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3832154"/>
              </p:ext>
            </p:extLst>
          </p:nvPr>
        </p:nvGraphicFramePr>
        <p:xfrm>
          <a:off x="5049659" y="1330272"/>
          <a:ext cx="6156684" cy="6998183"/>
        </p:xfrm>
        <a:graphic>
          <a:graphicData uri="http://schemas.openxmlformats.org/drawingml/2006/table">
            <a:tbl>
              <a:tblPr/>
              <a:tblGrid>
                <a:gridCol w="1013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39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30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5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928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경 험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578" marR="48578" marT="13430" marB="13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내 용 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578" marR="48578" marT="13430" marB="13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경 험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578" marR="48578" marT="13430" marB="13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내 용 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578" marR="48578" marT="13430" marB="13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711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도전정신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578" marR="48578" marT="13430" marB="13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S(</a:t>
                      </a:r>
                      <a:r>
                        <a:rPr lang="ko-KR" altLang="en-US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상황</a:t>
                      </a: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T(</a:t>
                      </a:r>
                      <a:r>
                        <a:rPr lang="ko-KR" altLang="en-US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과제</a:t>
                      </a: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A(</a:t>
                      </a:r>
                      <a:r>
                        <a:rPr lang="ko-KR" altLang="en-US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행동</a:t>
                      </a: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R(</a:t>
                      </a:r>
                      <a:r>
                        <a:rPr lang="ko-KR" altLang="en-US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결과</a:t>
                      </a: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err="1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배운점</a:t>
                      </a:r>
                      <a:endParaRPr lang="en-US" altLang="ko-KR" sz="1200" b="1" kern="0" spc="0" dirty="0">
                        <a:solidFill>
                          <a:srgbClr val="939393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578" marR="48578" marT="13430" marB="13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책임감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578" marR="48578" marT="13430" marB="13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S(</a:t>
                      </a:r>
                      <a:r>
                        <a:rPr lang="ko-KR" altLang="en-US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상황</a:t>
                      </a: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T(</a:t>
                      </a:r>
                      <a:r>
                        <a:rPr lang="ko-KR" altLang="en-US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과제</a:t>
                      </a: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A(</a:t>
                      </a:r>
                      <a:r>
                        <a:rPr lang="ko-KR" altLang="en-US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행동</a:t>
                      </a: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R(</a:t>
                      </a:r>
                      <a:r>
                        <a:rPr lang="ko-KR" altLang="en-US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결과</a:t>
                      </a: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err="1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배운점</a:t>
                      </a:r>
                      <a:endParaRPr lang="en-US" altLang="ko-KR" sz="1200" b="1" kern="0" spc="0" dirty="0">
                        <a:solidFill>
                          <a:srgbClr val="939393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578" marR="48578" marT="13430" marB="13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689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성실성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578" marR="48578" marT="13430" marB="13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S(</a:t>
                      </a:r>
                      <a:r>
                        <a:rPr lang="ko-KR" altLang="en-US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상황</a:t>
                      </a: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T(</a:t>
                      </a:r>
                      <a:r>
                        <a:rPr lang="ko-KR" altLang="en-US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과제</a:t>
                      </a: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A(</a:t>
                      </a:r>
                      <a:r>
                        <a:rPr lang="ko-KR" altLang="en-US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행동</a:t>
                      </a: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R(</a:t>
                      </a:r>
                      <a:r>
                        <a:rPr lang="ko-KR" altLang="en-US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결과</a:t>
                      </a: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err="1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배운점</a:t>
                      </a:r>
                      <a:endParaRPr lang="en-US" altLang="ko-KR" sz="1200" b="1" kern="0" spc="0" dirty="0">
                        <a:solidFill>
                          <a:srgbClr val="939393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578" marR="48578" marT="13430" marB="13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리더십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578" marR="48578" marT="13430" marB="13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S(</a:t>
                      </a:r>
                      <a:r>
                        <a:rPr lang="ko-KR" altLang="en-US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상황</a:t>
                      </a: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T(</a:t>
                      </a:r>
                      <a:r>
                        <a:rPr lang="ko-KR" altLang="en-US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과제</a:t>
                      </a: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A(</a:t>
                      </a:r>
                      <a:r>
                        <a:rPr lang="ko-KR" altLang="en-US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행동</a:t>
                      </a: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R(</a:t>
                      </a:r>
                      <a:r>
                        <a:rPr lang="ko-KR" altLang="en-US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결과</a:t>
                      </a: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err="1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배운점</a:t>
                      </a:r>
                      <a:endParaRPr lang="en-US" altLang="ko-KR" sz="1200" b="1" kern="0" spc="0" dirty="0">
                        <a:solidFill>
                          <a:srgbClr val="939393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578" marR="48578" marT="13430" marB="13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689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578" marR="48578" marT="13430" marB="13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S(</a:t>
                      </a:r>
                      <a:r>
                        <a:rPr lang="ko-KR" altLang="en-US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상황</a:t>
                      </a: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T(</a:t>
                      </a:r>
                      <a:r>
                        <a:rPr lang="ko-KR" altLang="en-US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과제</a:t>
                      </a: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A(</a:t>
                      </a:r>
                      <a:r>
                        <a:rPr lang="ko-KR" altLang="en-US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행동</a:t>
                      </a: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R(</a:t>
                      </a:r>
                      <a:r>
                        <a:rPr lang="ko-KR" altLang="en-US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결과</a:t>
                      </a: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err="1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배운점</a:t>
                      </a:r>
                      <a:endParaRPr lang="en-US" altLang="ko-KR" sz="1200" b="1" kern="0" spc="0" dirty="0">
                        <a:solidFill>
                          <a:srgbClr val="939393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578" marR="48578" marT="13430" marB="13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대인관계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578" marR="48578" marT="13430" marB="13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S(</a:t>
                      </a:r>
                      <a:r>
                        <a:rPr lang="ko-KR" altLang="en-US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상황</a:t>
                      </a: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T(</a:t>
                      </a:r>
                      <a:r>
                        <a:rPr lang="ko-KR" altLang="en-US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과제</a:t>
                      </a: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A(</a:t>
                      </a:r>
                      <a:r>
                        <a:rPr lang="ko-KR" altLang="en-US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행동</a:t>
                      </a: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R(</a:t>
                      </a:r>
                      <a:r>
                        <a:rPr lang="ko-KR" altLang="en-US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결과</a:t>
                      </a:r>
                      <a:r>
                        <a:rPr lang="en-US" altLang="ko-KR" sz="1200" b="1" kern="0" spc="0" dirty="0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err="1">
                          <a:solidFill>
                            <a:srgbClr val="939393"/>
                          </a:solidFill>
                          <a:effectLst/>
                          <a:latin typeface="+mn-ea"/>
                          <a:ea typeface="+mn-ea"/>
                        </a:rPr>
                        <a:t>배운점</a:t>
                      </a:r>
                      <a:endParaRPr lang="en-US" altLang="ko-KR" sz="1200" b="1" kern="0" spc="0" dirty="0">
                        <a:solidFill>
                          <a:srgbClr val="939393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578" marR="48578" marT="13430" marB="13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937599" y="509394"/>
            <a:ext cx="432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b="1" dirty="0">
                <a:latin typeface="+mn-ea"/>
              </a:rPr>
              <a:t>키워드 별 </a:t>
            </a:r>
            <a:r>
              <a:rPr lang="en-US" altLang="ko-KR" sz="1600" b="1" dirty="0">
                <a:latin typeface="+mn-ea"/>
              </a:rPr>
              <a:t> </a:t>
            </a:r>
            <a:r>
              <a:rPr lang="ko-KR" altLang="en-US" sz="1600" b="1" dirty="0">
                <a:latin typeface="+mn-ea"/>
              </a:rPr>
              <a:t>경험 정리 </a:t>
            </a:r>
            <a:r>
              <a:rPr lang="en-US" altLang="ko-KR" sz="1600" b="1" dirty="0">
                <a:latin typeface="+mn-ea"/>
              </a:rPr>
              <a:t>(</a:t>
            </a:r>
            <a:r>
              <a:rPr lang="ko-KR" altLang="en-US" sz="1600" b="1" dirty="0" err="1">
                <a:latin typeface="+mn-ea"/>
              </a:rPr>
              <a:t>현재키워드는</a:t>
            </a:r>
            <a:r>
              <a:rPr lang="ko-KR" altLang="en-US" sz="1600" b="1" dirty="0">
                <a:latin typeface="+mn-ea"/>
              </a:rPr>
              <a:t> 예시임</a:t>
            </a:r>
            <a:r>
              <a:rPr lang="en-US" altLang="ko-KR" sz="1600" b="1" dirty="0">
                <a:latin typeface="+mn-ea"/>
              </a:rPr>
              <a:t>/</a:t>
            </a:r>
            <a:r>
              <a:rPr lang="ko-KR" altLang="en-US" sz="1600" b="1" dirty="0">
                <a:latin typeface="+mn-ea"/>
              </a:rPr>
              <a:t>본인의 경험에 따른 키워드 재설정할 것</a:t>
            </a:r>
            <a:r>
              <a:rPr lang="en-US" altLang="ko-KR" sz="1600" b="1" dirty="0">
                <a:latin typeface="+mn-ea"/>
              </a:rPr>
              <a:t>)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en-US" altLang="ko-KR" sz="1600" b="1" dirty="0">
                <a:latin typeface="+mn-ea"/>
              </a:rPr>
              <a:t> </a:t>
            </a:r>
            <a:endParaRPr lang="ko-KR" altLang="en-US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95123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6066333"/>
              </p:ext>
            </p:extLst>
          </p:nvPr>
        </p:nvGraphicFramePr>
        <p:xfrm>
          <a:off x="680936" y="1330272"/>
          <a:ext cx="14922229" cy="6490765"/>
        </p:xfrm>
        <a:graphic>
          <a:graphicData uri="http://schemas.openxmlformats.org/drawingml/2006/table">
            <a:tbl>
              <a:tblPr/>
              <a:tblGrid>
                <a:gridCol w="5063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59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5889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경 험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48578" marR="48578" marT="13430" marB="13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내 용 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48578" marR="48578" marT="13430" marB="13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469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데이터분석력</a:t>
                      </a:r>
                      <a:endParaRPr lang="en-US" altLang="ko-KR" sz="1200" b="1" kern="0" spc="0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48578" marR="48578" marT="13430" marB="13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1" dirty="0" smtClean="0">
                          <a:latin typeface="+mn-lt"/>
                        </a:rPr>
                        <a:t>S:</a:t>
                      </a:r>
                      <a:r>
                        <a:rPr lang="ko-KR" altLang="en-US" sz="1200" dirty="0" smtClean="0">
                          <a:latin typeface="+mn-lt"/>
                        </a:rPr>
                        <a:t> 개인 블로그 채널을 운영하며 콘텐츠의 영향력을 넓히고 방문자 수를 </a:t>
                      </a:r>
                      <a:r>
                        <a:rPr lang="ko-KR" altLang="en-US" sz="1200" dirty="0" err="1" smtClean="0">
                          <a:latin typeface="+mn-lt"/>
                        </a:rPr>
                        <a:t>유입시켜야</a:t>
                      </a:r>
                      <a:r>
                        <a:rPr lang="ko-KR" altLang="en-US" sz="1200" dirty="0" smtClean="0">
                          <a:latin typeface="+mn-lt"/>
                        </a:rPr>
                        <a:t> 하는 상황이었습니다</a:t>
                      </a:r>
                      <a:r>
                        <a:rPr lang="en-US" altLang="ko-KR" sz="1200" dirty="0" smtClean="0">
                          <a:latin typeface="+mn-lt"/>
                        </a:rPr>
                        <a:t>.</a:t>
                      </a:r>
                    </a:p>
                    <a:p>
                      <a:r>
                        <a:rPr lang="en-US" altLang="ko-KR" sz="1200" b="1" dirty="0" smtClean="0">
                          <a:latin typeface="+mn-lt"/>
                        </a:rPr>
                        <a:t>T:</a:t>
                      </a:r>
                      <a:r>
                        <a:rPr lang="ko-KR" altLang="en-US" sz="1200" dirty="0" smtClean="0">
                          <a:latin typeface="+mn-lt"/>
                        </a:rPr>
                        <a:t> 타깃 </a:t>
                      </a:r>
                      <a:r>
                        <a:rPr lang="ko-KR" altLang="en-US" sz="1200" dirty="0" err="1" smtClean="0">
                          <a:latin typeface="+mn-lt"/>
                        </a:rPr>
                        <a:t>독층이</a:t>
                      </a:r>
                      <a:r>
                        <a:rPr lang="ko-KR" altLang="en-US" sz="1200" dirty="0" smtClean="0">
                          <a:latin typeface="+mn-lt"/>
                        </a:rPr>
                        <a:t> 매력을 느낄 수 있는 차별화된 콘텐츠를 기획하고</a:t>
                      </a:r>
                      <a:r>
                        <a:rPr lang="en-US" altLang="ko-KR" sz="1200" dirty="0" smtClean="0">
                          <a:latin typeface="+mn-lt"/>
                        </a:rPr>
                        <a:t>, </a:t>
                      </a:r>
                      <a:r>
                        <a:rPr lang="ko-KR" altLang="en-US" sz="1200" dirty="0" smtClean="0">
                          <a:latin typeface="+mn-lt"/>
                        </a:rPr>
                        <a:t>정체되어 있던 일간 방문자 수를 끌어올려야 했습니다</a:t>
                      </a:r>
                      <a:r>
                        <a:rPr lang="en-US" altLang="ko-KR" sz="1200" dirty="0" smtClean="0">
                          <a:latin typeface="+mn-lt"/>
                        </a:rPr>
                        <a:t>.</a:t>
                      </a:r>
                    </a:p>
                    <a:p>
                      <a:r>
                        <a:rPr lang="en-US" altLang="ko-KR" sz="1200" b="1" dirty="0" smtClean="0">
                          <a:latin typeface="+mn-lt"/>
                        </a:rPr>
                        <a:t>A:</a:t>
                      </a:r>
                      <a:r>
                        <a:rPr lang="ko-KR" altLang="en-US" sz="1200" dirty="0" smtClean="0">
                          <a:latin typeface="+mn-lt"/>
                        </a:rPr>
                        <a:t> 도서 핵심 가치 추출</a:t>
                      </a:r>
                      <a:r>
                        <a:rPr lang="en-US" altLang="ko-KR" sz="1200" dirty="0" smtClean="0">
                          <a:latin typeface="+mn-lt"/>
                        </a:rPr>
                        <a:t>, </a:t>
                      </a:r>
                      <a:r>
                        <a:rPr lang="ko-KR" altLang="en-US" sz="1200" dirty="0" smtClean="0">
                          <a:latin typeface="+mn-lt"/>
                        </a:rPr>
                        <a:t>공간 경험 분석 등 타깃 맞춤형 </a:t>
                      </a:r>
                      <a:r>
                        <a:rPr lang="ko-KR" altLang="en-US" sz="1200" dirty="0" err="1" smtClean="0">
                          <a:latin typeface="+mn-lt"/>
                        </a:rPr>
                        <a:t>큐레이션</a:t>
                      </a:r>
                      <a:r>
                        <a:rPr lang="ko-KR" altLang="en-US" sz="1200" dirty="0" smtClean="0">
                          <a:latin typeface="+mn-lt"/>
                        </a:rPr>
                        <a:t> 콘텐츠를 제공했습니다</a:t>
                      </a:r>
                      <a:r>
                        <a:rPr lang="en-US" altLang="ko-KR" sz="1200" dirty="0" smtClean="0">
                          <a:latin typeface="+mn-lt"/>
                        </a:rPr>
                        <a:t>. </a:t>
                      </a:r>
                      <a:r>
                        <a:rPr lang="ko-KR" altLang="en-US" sz="1200" dirty="0" smtClean="0">
                          <a:latin typeface="+mn-lt"/>
                        </a:rPr>
                        <a:t>특히 검색 키워드와 태그 전략을 데이터 기반으로 분석하고 정밀하게 수정</a:t>
                      </a:r>
                      <a:r>
                        <a:rPr lang="en-US" altLang="ko-KR" sz="1200" dirty="0" smtClean="0">
                          <a:latin typeface="+mn-lt"/>
                        </a:rPr>
                        <a:t>·</a:t>
                      </a:r>
                      <a:r>
                        <a:rPr lang="ko-KR" altLang="en-US" sz="1200" dirty="0" smtClean="0">
                          <a:latin typeface="+mn-lt"/>
                        </a:rPr>
                        <a:t>보완했습니다</a:t>
                      </a:r>
                      <a:r>
                        <a:rPr lang="en-US" altLang="ko-KR" sz="1200" dirty="0" smtClean="0">
                          <a:latin typeface="+mn-lt"/>
                        </a:rPr>
                        <a:t>.</a:t>
                      </a:r>
                    </a:p>
                    <a:p>
                      <a:r>
                        <a:rPr lang="en-US" altLang="ko-KR" sz="1200" b="1" dirty="0" smtClean="0">
                          <a:latin typeface="+mn-lt"/>
                        </a:rPr>
                        <a:t>R:</a:t>
                      </a:r>
                      <a:r>
                        <a:rPr lang="ko-KR" altLang="en-US" sz="1200" dirty="0" smtClean="0">
                          <a:latin typeface="+mn-lt"/>
                        </a:rPr>
                        <a:t> 정교한 </a:t>
                      </a:r>
                      <a:r>
                        <a:rPr lang="en-US" altLang="ko-KR" sz="1200" dirty="0" smtClean="0">
                          <a:latin typeface="+mn-lt"/>
                        </a:rPr>
                        <a:t>SEO </a:t>
                      </a:r>
                      <a:r>
                        <a:rPr lang="ko-KR" altLang="en-US" sz="1200" dirty="0" smtClean="0">
                          <a:latin typeface="+mn-lt"/>
                        </a:rPr>
                        <a:t>전략을 통해 일간 방문자 수를 </a:t>
                      </a:r>
                      <a:r>
                        <a:rPr lang="en-US" altLang="ko-KR" sz="1200" b="1" dirty="0" smtClean="0">
                          <a:latin typeface="+mn-lt"/>
                        </a:rPr>
                        <a:t>73% </a:t>
                      </a:r>
                      <a:r>
                        <a:rPr lang="ko-KR" altLang="en-US" sz="1200" b="1" dirty="0" smtClean="0">
                          <a:latin typeface="+mn-lt"/>
                        </a:rPr>
                        <a:t>상승</a:t>
                      </a:r>
                      <a:r>
                        <a:rPr lang="ko-KR" altLang="en-US" sz="1200" dirty="0" smtClean="0">
                          <a:latin typeface="+mn-lt"/>
                        </a:rPr>
                        <a:t>시키는 성과를 거두었습니다</a:t>
                      </a:r>
                      <a:r>
                        <a:rPr lang="en-US" altLang="ko-KR" sz="1200" dirty="0" smtClean="0">
                          <a:latin typeface="+mn-lt"/>
                        </a:rPr>
                        <a:t>.</a:t>
                      </a:r>
                    </a:p>
                    <a:p>
                      <a:endParaRPr lang="en-US" altLang="ko-KR" sz="1200" dirty="0" smtClean="0">
                        <a:latin typeface="+mn-lt"/>
                      </a:endParaRPr>
                    </a:p>
                    <a:p>
                      <a:r>
                        <a:rPr lang="ko-KR" altLang="en-US" sz="1200" b="1" dirty="0" smtClean="0">
                          <a:latin typeface="+mn-lt"/>
                        </a:rPr>
                        <a:t>배운 점</a:t>
                      </a:r>
                      <a:r>
                        <a:rPr lang="en-US" altLang="ko-KR" sz="1200" b="1" dirty="0" smtClean="0">
                          <a:latin typeface="+mn-lt"/>
                        </a:rPr>
                        <a:t>:</a:t>
                      </a:r>
                      <a:r>
                        <a:rPr lang="ko-KR" altLang="en-US" sz="1200" dirty="0" smtClean="0">
                          <a:latin typeface="+mn-lt"/>
                        </a:rPr>
                        <a:t> 감각에만 의존하는 콘텐츠 발행이 아닌</a:t>
                      </a:r>
                      <a:r>
                        <a:rPr lang="en-US" altLang="ko-KR" sz="1200" dirty="0" smtClean="0">
                          <a:latin typeface="+mn-lt"/>
                        </a:rPr>
                        <a:t>, </a:t>
                      </a:r>
                      <a:r>
                        <a:rPr lang="ko-KR" altLang="en-US" sz="1200" dirty="0" smtClean="0">
                          <a:latin typeface="+mn-lt"/>
                        </a:rPr>
                        <a:t>데이터</a:t>
                      </a:r>
                      <a:r>
                        <a:rPr lang="en-US" altLang="ko-KR" sz="1200" dirty="0" smtClean="0">
                          <a:latin typeface="+mn-lt"/>
                        </a:rPr>
                        <a:t>(</a:t>
                      </a:r>
                      <a:r>
                        <a:rPr lang="ko-KR" altLang="en-US" sz="1200" dirty="0" smtClean="0">
                          <a:latin typeface="+mn-lt"/>
                        </a:rPr>
                        <a:t>키워드</a:t>
                      </a:r>
                      <a:r>
                        <a:rPr lang="en-US" altLang="ko-KR" sz="1200" dirty="0" smtClean="0">
                          <a:latin typeface="+mn-lt"/>
                        </a:rPr>
                        <a:t>, </a:t>
                      </a:r>
                      <a:r>
                        <a:rPr lang="ko-KR" altLang="en-US" sz="1200" dirty="0" smtClean="0">
                          <a:latin typeface="+mn-lt"/>
                        </a:rPr>
                        <a:t>태그 분석</a:t>
                      </a:r>
                      <a:r>
                        <a:rPr lang="en-US" altLang="ko-KR" sz="1200" dirty="0" smtClean="0">
                          <a:latin typeface="+mn-lt"/>
                        </a:rPr>
                        <a:t>)</a:t>
                      </a:r>
                      <a:r>
                        <a:rPr lang="ko-KR" altLang="en-US" sz="1200" dirty="0" smtClean="0">
                          <a:latin typeface="+mn-lt"/>
                        </a:rPr>
                        <a:t>를 바탕으로 정밀하게 접근할 때 타깃 유입과 실제적인 성과를 만들어낼 수 있음을</a:t>
                      </a:r>
                      <a:r>
                        <a:rPr lang="ko-KR" altLang="en-US" sz="1200" kern="0" spc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lang="ko-KR" altLang="en-US" sz="1200" kern="0" spc="0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배웠습니다</a:t>
                      </a:r>
                      <a:r>
                        <a:rPr lang="en-US" altLang="ko-KR" sz="1200" kern="0" spc="0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.</a:t>
                      </a:r>
                      <a:endParaRPr lang="ko-KR" altLang="en-US" sz="1200" dirty="0" smtClean="0">
                        <a:latin typeface="+mn-lt"/>
                      </a:endParaRPr>
                    </a:p>
                  </a:txBody>
                  <a:tcPr marL="48578" marR="48578" marT="13430" marB="13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717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조직기여도</a:t>
                      </a:r>
                      <a:r>
                        <a:rPr lang="en-US" altLang="ko-KR" sz="1200" b="1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,</a:t>
                      </a: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문제해결력</a:t>
                      </a:r>
                      <a:r>
                        <a:rPr lang="en-US" altLang="ko-KR" sz="1200" b="1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,</a:t>
                      </a: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협업능력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48578" marR="48578" marT="13430" marB="13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 rtl="0"/>
                      <a:r>
                        <a:rPr lang="en-US" altLang="ko-KR" sz="1200" b="1" dirty="0" smtClean="0">
                          <a:effectLst/>
                          <a:latin typeface="+mn-lt"/>
                        </a:rPr>
                        <a:t>S:</a:t>
                      </a:r>
                      <a:r>
                        <a:rPr lang="ko-KR" altLang="en-US" sz="1200" dirty="0" smtClean="0">
                          <a:effectLst/>
                          <a:latin typeface="+mn-lt"/>
                        </a:rPr>
                        <a:t> 회사에서 자체적으로 제작하여 사용하는 업무 툴이 있었으나</a:t>
                      </a:r>
                      <a:r>
                        <a:rPr lang="en-US" altLang="ko-KR" sz="1200" dirty="0" smtClean="0">
                          <a:effectLst/>
                          <a:latin typeface="+mn-lt"/>
                        </a:rPr>
                        <a:t>, </a:t>
                      </a:r>
                      <a:r>
                        <a:rPr lang="ko-KR" altLang="en-US" sz="1200" dirty="0" smtClean="0">
                          <a:effectLst/>
                          <a:latin typeface="+mn-lt"/>
                        </a:rPr>
                        <a:t>체계적인 사용 매뉴얼이나 가이드가 부족해 팀원들이 기능 활용에 어려움을 겪거나 싱크를 맞추기 어려운 상황이었습니다</a:t>
                      </a:r>
                      <a:r>
                        <a:rPr lang="en-US" altLang="ko-KR" sz="1200" dirty="0" smtClean="0">
                          <a:effectLst/>
                          <a:latin typeface="+mn-lt"/>
                        </a:rPr>
                        <a:t>.</a:t>
                      </a:r>
                    </a:p>
                    <a:p>
                      <a:pPr lvl="0" algn="l" rtl="0"/>
                      <a:r>
                        <a:rPr lang="en-US" altLang="ko-KR" sz="1200" b="1" dirty="0" smtClean="0">
                          <a:effectLst/>
                          <a:latin typeface="+mn-lt"/>
                        </a:rPr>
                        <a:t>T:</a:t>
                      </a:r>
                      <a:r>
                        <a:rPr lang="ko-KR" altLang="en-US" sz="1200" dirty="0" smtClean="0">
                          <a:effectLst/>
                          <a:latin typeface="+mn-lt"/>
                        </a:rPr>
                        <a:t> 팀원들이 시행착오 없이 툴을 빠르게 숙지하고 업무 효율성을 높일 수 있도록</a:t>
                      </a:r>
                      <a:r>
                        <a:rPr lang="en-US" altLang="ko-KR" sz="1200" dirty="0" smtClean="0">
                          <a:effectLst/>
                          <a:latin typeface="+mn-lt"/>
                        </a:rPr>
                        <a:t>, </a:t>
                      </a:r>
                      <a:r>
                        <a:rPr lang="ko-KR" altLang="en-US" sz="1200" dirty="0" smtClean="0">
                          <a:effectLst/>
                          <a:latin typeface="+mn-lt"/>
                        </a:rPr>
                        <a:t>누구나 쉽게 이해할 수 있는 </a:t>
                      </a:r>
                      <a:r>
                        <a:rPr lang="ko-KR" altLang="en-US" sz="1200" dirty="0" err="1" smtClean="0">
                          <a:effectLst/>
                          <a:latin typeface="+mn-lt"/>
                        </a:rPr>
                        <a:t>실무용</a:t>
                      </a:r>
                      <a:r>
                        <a:rPr lang="ko-KR" altLang="en-US" sz="1200" dirty="0" smtClean="0">
                          <a:effectLst/>
                          <a:latin typeface="+mn-lt"/>
                        </a:rPr>
                        <a:t> 가이드라인을 구축해야 했습니다</a:t>
                      </a:r>
                      <a:r>
                        <a:rPr lang="en-US" altLang="ko-KR" sz="1200" dirty="0" smtClean="0">
                          <a:effectLst/>
                          <a:latin typeface="+mn-lt"/>
                        </a:rPr>
                        <a:t>.</a:t>
                      </a:r>
                    </a:p>
                    <a:p>
                      <a:pPr lvl="0" algn="l" rtl="0"/>
                      <a:r>
                        <a:rPr lang="en-US" altLang="ko-KR" sz="1200" b="1" dirty="0" smtClean="0">
                          <a:effectLst/>
                          <a:latin typeface="+mn-lt"/>
                        </a:rPr>
                        <a:t>A:</a:t>
                      </a:r>
                      <a:r>
                        <a:rPr lang="ko-KR" altLang="en-US" sz="1200" dirty="0" smtClean="0">
                          <a:effectLst/>
                          <a:latin typeface="+mn-lt"/>
                        </a:rPr>
                        <a:t> 안내서가 없는 상태에서 </a:t>
                      </a:r>
                      <a:r>
                        <a:rPr lang="ko-KR" altLang="en-US" sz="1200" b="1" dirty="0" smtClean="0">
                          <a:effectLst/>
                          <a:latin typeface="+mn-lt"/>
                        </a:rPr>
                        <a:t>해당 툴의 모든 기능을 하나하나 직접 실행하고 테스트해가며 프로세스를 익혔습니다</a:t>
                      </a:r>
                      <a:r>
                        <a:rPr lang="en-US" altLang="ko-KR" sz="1200" b="1" dirty="0" smtClean="0">
                          <a:effectLst/>
                          <a:latin typeface="+mn-lt"/>
                        </a:rPr>
                        <a:t>.</a:t>
                      </a:r>
                      <a:r>
                        <a:rPr lang="ko-KR" altLang="en-US" sz="1200" dirty="0" smtClean="0">
                          <a:effectLst/>
                          <a:latin typeface="+mn-lt"/>
                        </a:rPr>
                        <a:t> 이후 사용자의 시각에서 가장 직관적으로 이해할 수 있는 순서로 구조를 설계하고</a:t>
                      </a:r>
                      <a:r>
                        <a:rPr lang="en-US" altLang="ko-KR" sz="1200" dirty="0" smtClean="0">
                          <a:effectLst/>
                          <a:latin typeface="+mn-lt"/>
                        </a:rPr>
                        <a:t>, Notion</a:t>
                      </a:r>
                      <a:r>
                        <a:rPr lang="ko-KR" altLang="en-US" sz="1200" dirty="0" smtClean="0">
                          <a:effectLst/>
                          <a:latin typeface="+mn-lt"/>
                        </a:rPr>
                        <a:t>을 활용하여 기능별 활용법과 주의사항을 꼼꼼하게 </a:t>
                      </a:r>
                      <a:r>
                        <a:rPr lang="ko-KR" altLang="en-US" sz="1200" dirty="0" err="1" smtClean="0">
                          <a:effectLst/>
                          <a:latin typeface="+mn-lt"/>
                        </a:rPr>
                        <a:t>아카이빙했습니다</a:t>
                      </a:r>
                      <a:r>
                        <a:rPr lang="en-US" altLang="ko-KR" sz="1200" dirty="0" smtClean="0">
                          <a:effectLst/>
                          <a:latin typeface="+mn-lt"/>
                        </a:rPr>
                        <a:t>.</a:t>
                      </a:r>
                    </a:p>
                    <a:p>
                      <a:pPr lvl="0" algn="l" rtl="0"/>
                      <a:r>
                        <a:rPr lang="en-US" altLang="ko-KR" sz="1200" b="1" dirty="0" smtClean="0">
                          <a:effectLst/>
                          <a:latin typeface="+mn-lt"/>
                        </a:rPr>
                        <a:t>R:</a:t>
                      </a:r>
                      <a:r>
                        <a:rPr lang="ko-KR" altLang="en-US" sz="1200" dirty="0" smtClean="0">
                          <a:effectLst/>
                          <a:latin typeface="+mn-lt"/>
                        </a:rPr>
                        <a:t> 전사 팀원들에게 공유 가능한 </a:t>
                      </a:r>
                      <a:r>
                        <a:rPr lang="en-US" altLang="ko-KR" sz="1200" dirty="0" smtClean="0">
                          <a:effectLst/>
                          <a:latin typeface="+mn-lt"/>
                        </a:rPr>
                        <a:t>’</a:t>
                      </a:r>
                      <a:r>
                        <a:rPr lang="ko-KR" altLang="en-US" sz="1200" dirty="0" smtClean="0">
                          <a:effectLst/>
                          <a:latin typeface="+mn-lt"/>
                        </a:rPr>
                        <a:t>사용 가이드</a:t>
                      </a:r>
                      <a:r>
                        <a:rPr lang="en-US" altLang="ko-KR" sz="1200" dirty="0" smtClean="0">
                          <a:effectLst/>
                          <a:latin typeface="+mn-lt"/>
                        </a:rPr>
                        <a:t>'</a:t>
                      </a:r>
                      <a:r>
                        <a:rPr lang="ko-KR" altLang="en-US" sz="1200" dirty="0" smtClean="0">
                          <a:effectLst/>
                          <a:latin typeface="+mn-lt"/>
                        </a:rPr>
                        <a:t>를 완성했으며</a:t>
                      </a:r>
                      <a:r>
                        <a:rPr lang="en-US" altLang="ko-KR" sz="1200" dirty="0" smtClean="0">
                          <a:effectLst/>
                          <a:latin typeface="+mn-lt"/>
                        </a:rPr>
                        <a:t>, </a:t>
                      </a:r>
                      <a:r>
                        <a:rPr lang="ko-KR" altLang="en-US" sz="1200" dirty="0" smtClean="0">
                          <a:effectLst/>
                          <a:latin typeface="+mn-lt"/>
                        </a:rPr>
                        <a:t>이를 통해 팀원들의 정보 탐색 시간과 휴먼 에러를 대폭 줄이고 협업 효율성을 극대화했습니다</a:t>
                      </a:r>
                      <a:r>
                        <a:rPr lang="en-US" altLang="ko-KR" sz="1200" dirty="0" smtClean="0">
                          <a:effectLst/>
                          <a:latin typeface="+mn-lt"/>
                        </a:rPr>
                        <a:t>.</a:t>
                      </a:r>
                    </a:p>
                    <a:p>
                      <a:pPr lvl="0" algn="l" rtl="0"/>
                      <a:endParaRPr lang="en-US" altLang="ko-KR" sz="1200" dirty="0" smtClean="0">
                        <a:effectLst/>
                        <a:latin typeface="+mn-lt"/>
                      </a:endParaRPr>
                    </a:p>
                    <a:p>
                      <a:pPr rtl="0"/>
                      <a:r>
                        <a:rPr lang="ko-KR" altLang="en-US" sz="1200" b="1" dirty="0" smtClean="0">
                          <a:effectLst/>
                          <a:latin typeface="+mn-lt"/>
                        </a:rPr>
                        <a:t>배운 점 </a:t>
                      </a:r>
                      <a:r>
                        <a:rPr lang="en-US" altLang="ko-KR" sz="1200" b="1" dirty="0" smtClean="0">
                          <a:effectLst/>
                          <a:latin typeface="+mn-lt"/>
                        </a:rPr>
                        <a:t>(Takeaway):</a:t>
                      </a:r>
                      <a:r>
                        <a:rPr lang="ko-KR" altLang="en-US" sz="1200" dirty="0" smtClean="0">
                          <a:effectLst/>
                          <a:latin typeface="+mn-lt"/>
                        </a:rPr>
                        <a:t> 가이드가 없는 낯선 환경에서도 스스로 부딪히며 답을 찾아내는 </a:t>
                      </a:r>
                      <a:r>
                        <a:rPr lang="ko-KR" altLang="en-US" sz="1200" b="1" dirty="0" smtClean="0">
                          <a:effectLst/>
                          <a:latin typeface="+mn-lt"/>
                        </a:rPr>
                        <a:t>주도적 문제해결력</a:t>
                      </a:r>
                      <a:r>
                        <a:rPr lang="ko-KR" altLang="en-US" sz="1200" dirty="0" smtClean="0">
                          <a:effectLst/>
                          <a:latin typeface="+mn-lt"/>
                        </a:rPr>
                        <a:t>을 기를 수 있었습니다</a:t>
                      </a:r>
                      <a:r>
                        <a:rPr lang="en-US" altLang="ko-KR" sz="1200" dirty="0" smtClean="0">
                          <a:effectLst/>
                          <a:latin typeface="+mn-lt"/>
                        </a:rPr>
                        <a:t>. </a:t>
                      </a:r>
                      <a:r>
                        <a:rPr lang="ko-KR" altLang="en-US" sz="1200" dirty="0" smtClean="0">
                          <a:effectLst/>
                          <a:latin typeface="+mn-lt"/>
                        </a:rPr>
                        <a:t>더불어</a:t>
                      </a:r>
                      <a:r>
                        <a:rPr lang="en-US" altLang="ko-KR" sz="1200" dirty="0" smtClean="0">
                          <a:effectLst/>
                          <a:latin typeface="+mn-lt"/>
                        </a:rPr>
                        <a:t>, </a:t>
                      </a:r>
                      <a:r>
                        <a:rPr lang="ko-KR" altLang="en-US" sz="1200" dirty="0" smtClean="0">
                          <a:effectLst/>
                          <a:latin typeface="+mn-lt"/>
                        </a:rPr>
                        <a:t>개인의 경험과 지식을 문서화하여 조직의 지식 자산으로 전환했을 때 팀 전체의 퍼포먼스가 얼마나 향상될 수 있는지 체득했습니다</a:t>
                      </a:r>
                      <a:r>
                        <a:rPr lang="en-US" altLang="ko-KR" sz="1200" dirty="0" smtClean="0">
                          <a:effectLst/>
                          <a:latin typeface="+mn-lt"/>
                        </a:rPr>
                        <a:t>.</a:t>
                      </a: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48578" marR="48578" marT="13430" marB="13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0936" y="256475"/>
            <a:ext cx="109184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b="1" dirty="0">
                <a:latin typeface="+mn-ea"/>
              </a:rPr>
              <a:t>키워드 별 </a:t>
            </a:r>
            <a:r>
              <a:rPr lang="en-US" altLang="ko-KR" sz="1600" b="1" dirty="0">
                <a:latin typeface="+mn-ea"/>
              </a:rPr>
              <a:t> </a:t>
            </a:r>
            <a:r>
              <a:rPr lang="ko-KR" altLang="en-US" sz="1600" b="1" dirty="0">
                <a:latin typeface="+mn-ea"/>
              </a:rPr>
              <a:t>경험 정리 </a:t>
            </a:r>
            <a:r>
              <a:rPr lang="en-US" altLang="ko-KR" sz="1600" b="1" dirty="0">
                <a:latin typeface="+mn-ea"/>
              </a:rPr>
              <a:t>(</a:t>
            </a:r>
            <a:r>
              <a:rPr lang="ko-KR" altLang="en-US" sz="1600" b="1" dirty="0" err="1">
                <a:latin typeface="+mn-ea"/>
              </a:rPr>
              <a:t>현재키워드는</a:t>
            </a:r>
            <a:r>
              <a:rPr lang="ko-KR" altLang="en-US" sz="1600" b="1" dirty="0">
                <a:latin typeface="+mn-ea"/>
              </a:rPr>
              <a:t> 예시임</a:t>
            </a:r>
            <a:r>
              <a:rPr lang="en-US" altLang="ko-KR" sz="1600" b="1" dirty="0">
                <a:latin typeface="+mn-ea"/>
              </a:rPr>
              <a:t>/</a:t>
            </a:r>
            <a:r>
              <a:rPr lang="ko-KR" altLang="en-US" sz="1600" b="1" dirty="0">
                <a:latin typeface="+mn-ea"/>
              </a:rPr>
              <a:t>본인의 경험에 따른 키워드 재설정할 것</a:t>
            </a:r>
            <a:r>
              <a:rPr lang="en-US" altLang="ko-KR" sz="1600" b="1" dirty="0">
                <a:latin typeface="+mn-ea"/>
              </a:rPr>
              <a:t>)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en-US" altLang="ko-KR" sz="1600" b="1" dirty="0">
                <a:latin typeface="+mn-ea"/>
              </a:rPr>
              <a:t> </a:t>
            </a:r>
            <a:endParaRPr lang="ko-KR" altLang="en-US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80306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340791"/>
              </p:ext>
            </p:extLst>
          </p:nvPr>
        </p:nvGraphicFramePr>
        <p:xfrm>
          <a:off x="1342417" y="2081719"/>
          <a:ext cx="13774366" cy="5914417"/>
        </p:xfrm>
        <a:graphic>
          <a:graphicData uri="http://schemas.openxmlformats.org/drawingml/2006/table">
            <a:tbl>
              <a:tblPr/>
              <a:tblGrid>
                <a:gridCol w="467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008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61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경 험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48578" marR="48578" marT="13430" marB="13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내 용 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48578" marR="48578" marT="13430" marB="13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936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리더십</a:t>
                      </a:r>
                      <a:r>
                        <a:rPr lang="en-US" altLang="ko-KR" sz="1200" b="1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,</a:t>
                      </a: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일정관리력</a:t>
                      </a:r>
                      <a:r>
                        <a:rPr lang="en-US" altLang="ko-KR" sz="1200" b="1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,</a:t>
                      </a: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책임감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48578" marR="48578" marT="13430" marB="13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1" dirty="0" smtClean="0">
                          <a:latin typeface="+mn-lt"/>
                        </a:rPr>
                        <a:t>S:</a:t>
                      </a:r>
                      <a:r>
                        <a:rPr lang="ko-KR" altLang="en-US" sz="1200" dirty="0" smtClean="0"/>
                        <a:t>제한된 기한 내에 다수의 팀원이 참여하는 프로젝트를 이끌며 완성도 높은 결과물을 도출해야 했습니다</a:t>
                      </a:r>
                      <a:r>
                        <a:rPr lang="en-US" altLang="ko-KR" sz="1200" dirty="0" smtClean="0"/>
                        <a:t>.</a:t>
                      </a:r>
                    </a:p>
                    <a:p>
                      <a:r>
                        <a:rPr lang="en-US" altLang="ko-KR" sz="1200" b="1" dirty="0" smtClean="0"/>
                        <a:t>T:</a:t>
                      </a:r>
                      <a:r>
                        <a:rPr lang="ko-KR" altLang="en-US" sz="1200" dirty="0" smtClean="0"/>
                        <a:t> 완성도에 과도하게 집착하여 일정이 지연되는 리스크를 방지하고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철저한 마감 기한 준수와 높은 퀄리티를 동시에 달성해야 했습니다</a:t>
                      </a:r>
                      <a:r>
                        <a:rPr lang="en-US" altLang="ko-KR" sz="1200" dirty="0" smtClean="0"/>
                        <a:t>.</a:t>
                      </a:r>
                    </a:p>
                    <a:p>
                      <a:r>
                        <a:rPr lang="en-US" altLang="ko-KR" sz="1200" b="1" dirty="0" smtClean="0"/>
                        <a:t>A:</a:t>
                      </a:r>
                      <a:r>
                        <a:rPr lang="ko-KR" altLang="en-US" sz="1200" dirty="0" smtClean="0"/>
                        <a:t> 업무 시작 전 </a:t>
                      </a:r>
                      <a:r>
                        <a:rPr lang="en-US" altLang="ko-KR" sz="1200" dirty="0" smtClean="0"/>
                        <a:t>'</a:t>
                      </a:r>
                      <a:r>
                        <a:rPr lang="ko-KR" altLang="en-US" sz="1200" dirty="0" smtClean="0"/>
                        <a:t>중요도와 시급성</a:t>
                      </a:r>
                      <a:r>
                        <a:rPr lang="en-US" altLang="ko-KR" sz="1200" dirty="0" smtClean="0"/>
                        <a:t>'</a:t>
                      </a:r>
                      <a:r>
                        <a:rPr lang="ko-KR" altLang="en-US" sz="1200" dirty="0" smtClean="0"/>
                        <a:t>에 따른 우선순위 리스트를 작성했습니다</a:t>
                      </a:r>
                      <a:r>
                        <a:rPr lang="en-US" altLang="ko-KR" sz="1200" dirty="0" smtClean="0"/>
                        <a:t>. </a:t>
                      </a:r>
                      <a:r>
                        <a:rPr lang="ko-KR" altLang="en-US" sz="1200" dirty="0" smtClean="0"/>
                        <a:t>정해진 타임라인에 맞춰 단계별 목표를 체크하는 시스템을 도입하고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일정 관리와 문서화를 철저히 도맡았습니다</a:t>
                      </a:r>
                      <a:r>
                        <a:rPr lang="en-US" altLang="ko-KR" sz="1200" dirty="0" smtClean="0"/>
                        <a:t>.</a:t>
                      </a:r>
                    </a:p>
                    <a:p>
                      <a:r>
                        <a:rPr lang="en-US" altLang="ko-KR" sz="1200" b="1" dirty="0" smtClean="0"/>
                        <a:t>R:</a:t>
                      </a:r>
                      <a:r>
                        <a:rPr lang="ko-KR" altLang="en-US" sz="1200" dirty="0" smtClean="0"/>
                        <a:t> 콘텐츠의 감각적인 퀄리티를 최고조로 유지하면서도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단 한 번의 지연 없이 마감 기한을 완벽하게 준수하여 프로젝트를 성공적으로 완수했습니다</a:t>
                      </a:r>
                      <a:r>
                        <a:rPr lang="en-US" altLang="ko-KR" sz="1200" dirty="0" smtClean="0"/>
                        <a:t>.</a:t>
                      </a:r>
                    </a:p>
                    <a:p>
                      <a:endParaRPr lang="en-US" altLang="ko-KR" sz="1200" dirty="0" smtClean="0"/>
                    </a:p>
                    <a:p>
                      <a:r>
                        <a:rPr lang="ko-KR" altLang="en-US" sz="1200" b="1" dirty="0" smtClean="0"/>
                        <a:t>배운 점</a:t>
                      </a:r>
                      <a:r>
                        <a:rPr lang="en-US" altLang="ko-KR" sz="1200" b="1" dirty="0" smtClean="0"/>
                        <a:t>:</a:t>
                      </a:r>
                      <a:r>
                        <a:rPr lang="ko-KR" altLang="en-US" sz="1200" dirty="0" smtClean="0"/>
                        <a:t> 철저한 우선순위 설정과 타임라인 관리가 팀의 리스크를 최소화하며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완벽한 완성도와 효율성을 동시에 잡는 원동력이 됨을 배웠습니다</a:t>
                      </a:r>
                      <a:r>
                        <a:rPr lang="en-US" altLang="ko-KR" sz="1200" dirty="0" smtClean="0"/>
                        <a:t>.</a:t>
                      </a:r>
                    </a:p>
                  </a:txBody>
                  <a:tcPr marL="48578" marR="48578" marT="13430" marB="13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890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직무융합성</a:t>
                      </a:r>
                      <a:r>
                        <a:rPr lang="en-US" altLang="ko-KR" sz="1200" b="1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,</a:t>
                      </a: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실행력</a:t>
                      </a:r>
                      <a:r>
                        <a:rPr lang="en-US" altLang="ko-KR" sz="1200" b="1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,</a:t>
                      </a: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전문성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48578" marR="48578" marT="13430" marB="13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1" dirty="0" smtClean="0"/>
                        <a:t>S:</a:t>
                      </a:r>
                      <a:r>
                        <a:rPr lang="ko-KR" altLang="en-US" sz="1200" dirty="0" smtClean="0"/>
                        <a:t> </a:t>
                      </a:r>
                      <a:r>
                        <a:rPr lang="en-US" altLang="ko-KR" sz="1200" dirty="0" err="1" smtClean="0"/>
                        <a:t>PopIC</a:t>
                      </a:r>
                      <a:r>
                        <a:rPr lang="en-US" altLang="ko-KR" sz="1200" dirty="0" smtClean="0"/>
                        <a:t>, Stock Cast, </a:t>
                      </a:r>
                      <a:r>
                        <a:rPr lang="en-US" altLang="ko-KR" sz="1200" dirty="0" err="1" smtClean="0"/>
                        <a:t>PetRadar</a:t>
                      </a:r>
                      <a:r>
                        <a:rPr lang="en-US" altLang="ko-KR" sz="1200" dirty="0" smtClean="0"/>
                        <a:t> </a:t>
                      </a:r>
                      <a:r>
                        <a:rPr lang="ko-KR" altLang="en-US" sz="1200" dirty="0" smtClean="0"/>
                        <a:t>등의 프로젝트에서 기획부터 </a:t>
                      </a:r>
                      <a:r>
                        <a:rPr lang="ko-KR" altLang="en-US" sz="1200" dirty="0" err="1" smtClean="0"/>
                        <a:t>비주얼</a:t>
                      </a:r>
                      <a:r>
                        <a:rPr lang="ko-KR" altLang="en-US" sz="1200" dirty="0" smtClean="0"/>
                        <a:t> 구현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기술적 검증까지 유기적으로 연결해야 하는 과제가 있었습니다</a:t>
                      </a:r>
                      <a:r>
                        <a:rPr lang="en-US" altLang="ko-KR" sz="1200" dirty="0" smtClean="0"/>
                        <a:t>.</a:t>
                      </a:r>
                    </a:p>
                    <a:p>
                      <a:r>
                        <a:rPr lang="en-US" altLang="ko-KR" sz="1200" b="1" dirty="0" smtClean="0"/>
                        <a:t>T:</a:t>
                      </a:r>
                      <a:r>
                        <a:rPr lang="ko-KR" altLang="en-US" sz="1200" dirty="0" smtClean="0"/>
                        <a:t> </a:t>
                      </a:r>
                      <a:r>
                        <a:rPr lang="ko-KR" altLang="en-US" sz="1200" dirty="0" err="1" smtClean="0"/>
                        <a:t>웹퍼블리셔</a:t>
                      </a:r>
                      <a:r>
                        <a:rPr lang="ko-KR" altLang="en-US" sz="1200" dirty="0" smtClean="0"/>
                        <a:t> 및 </a:t>
                      </a:r>
                      <a:r>
                        <a:rPr lang="ko-KR" altLang="en-US" sz="1200" dirty="0" err="1" smtClean="0"/>
                        <a:t>풀스택</a:t>
                      </a:r>
                      <a:r>
                        <a:rPr lang="ko-KR" altLang="en-US" sz="1200" dirty="0" smtClean="0"/>
                        <a:t> 개발 교육으로 쌓은 기술적 논리와 디자인 감각을 융합하여 실제 작동 가능한 </a:t>
                      </a:r>
                      <a:r>
                        <a:rPr lang="ko-KR" altLang="en-US" sz="1200" dirty="0" err="1" smtClean="0"/>
                        <a:t>고퀄리티의</a:t>
                      </a:r>
                      <a:r>
                        <a:rPr lang="ko-KR" altLang="en-US" sz="1200" dirty="0" smtClean="0"/>
                        <a:t> 서비스 모델을 구축해야 했습니다</a:t>
                      </a:r>
                      <a:r>
                        <a:rPr lang="en-US" altLang="ko-KR" sz="1200" dirty="0" smtClean="0"/>
                        <a:t>.</a:t>
                      </a:r>
                    </a:p>
                    <a:p>
                      <a:r>
                        <a:rPr lang="en-US" altLang="ko-KR" sz="1200" b="1" dirty="0" smtClean="0"/>
                        <a:t>A:</a:t>
                      </a:r>
                      <a:r>
                        <a:rPr lang="ko-KR" altLang="en-US" sz="1200" dirty="0" smtClean="0"/>
                        <a:t> </a:t>
                      </a:r>
                      <a:r>
                        <a:rPr lang="en-US" altLang="ko-KR" sz="1200" dirty="0" smtClean="0"/>
                        <a:t>GTQ, </a:t>
                      </a:r>
                      <a:r>
                        <a:rPr lang="ko-KR" altLang="en-US" sz="1200" dirty="0" smtClean="0"/>
                        <a:t>웹디자인기능사 역량을 바탕으로 포토샵</a:t>
                      </a:r>
                      <a:r>
                        <a:rPr lang="en-US" altLang="ko-KR" sz="1200" dirty="0" smtClean="0"/>
                        <a:t>·</a:t>
                      </a:r>
                      <a:r>
                        <a:rPr lang="ko-KR" altLang="en-US" sz="1200" dirty="0" smtClean="0"/>
                        <a:t>일러스트를 활용해 와이어프레임을 설계하고 </a:t>
                      </a:r>
                      <a:r>
                        <a:rPr lang="en-US" altLang="ko-KR" sz="1200" dirty="0" smtClean="0"/>
                        <a:t>UI/UX</a:t>
                      </a:r>
                      <a:r>
                        <a:rPr lang="ko-KR" altLang="en-US" sz="1200" dirty="0" smtClean="0"/>
                        <a:t>를 기획했습니다</a:t>
                      </a:r>
                      <a:r>
                        <a:rPr lang="en-US" altLang="ko-KR" sz="1200" dirty="0" smtClean="0"/>
                        <a:t>. </a:t>
                      </a:r>
                      <a:r>
                        <a:rPr lang="ko-KR" altLang="en-US" sz="1200" dirty="0" smtClean="0"/>
                        <a:t>여기에 개발 프로세스에 대한 이해를 더해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디자인이 실제 코드로 구현되는 전 과정을 원스톱으로 수행했습니다</a:t>
                      </a:r>
                      <a:r>
                        <a:rPr lang="en-US" altLang="ko-KR" sz="1200" dirty="0" smtClean="0"/>
                        <a:t>.</a:t>
                      </a:r>
                    </a:p>
                    <a:p>
                      <a:r>
                        <a:rPr lang="en-US" altLang="ko-KR" sz="1200" b="1" dirty="0" smtClean="0"/>
                        <a:t>R:</a:t>
                      </a:r>
                      <a:r>
                        <a:rPr lang="ko-KR" altLang="en-US" sz="1200" dirty="0" smtClean="0"/>
                        <a:t> 기획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디자인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개발 간의 병목 현상을 없애고 개발 프로세스를 깊이 이해하는 </a:t>
                      </a:r>
                      <a:r>
                        <a:rPr lang="ko-KR" altLang="en-US" sz="1200" dirty="0" err="1" smtClean="0"/>
                        <a:t>마케터로서의</a:t>
                      </a:r>
                      <a:r>
                        <a:rPr lang="ko-KR" altLang="en-US" sz="1200" dirty="0" smtClean="0"/>
                        <a:t> 독보적인 </a:t>
                      </a:r>
                      <a:r>
                        <a:rPr lang="ko-KR" altLang="en-US" sz="1200" dirty="0" err="1" smtClean="0"/>
                        <a:t>올인원</a:t>
                      </a:r>
                      <a:r>
                        <a:rPr lang="en-US" altLang="ko-KR" sz="1200" dirty="0" smtClean="0"/>
                        <a:t>(All-in-one) </a:t>
                      </a:r>
                      <a:r>
                        <a:rPr lang="ko-KR" altLang="en-US" sz="1200" dirty="0" smtClean="0"/>
                        <a:t>직무 역량을 증명했습니다</a:t>
                      </a:r>
                      <a:r>
                        <a:rPr lang="en-US" altLang="ko-KR" sz="1200" dirty="0" smtClean="0"/>
                        <a:t>.</a:t>
                      </a:r>
                    </a:p>
                    <a:p>
                      <a:endParaRPr lang="en-US" altLang="ko-KR" sz="1200" dirty="0" smtClean="0"/>
                    </a:p>
                    <a:p>
                      <a:r>
                        <a:rPr lang="ko-KR" altLang="en-US" sz="1200" b="1" dirty="0" smtClean="0"/>
                        <a:t>배운 점</a:t>
                      </a:r>
                      <a:r>
                        <a:rPr lang="en-US" altLang="ko-KR" sz="1200" b="1" dirty="0" smtClean="0"/>
                        <a:t>:</a:t>
                      </a:r>
                      <a:r>
                        <a:rPr lang="ko-KR" altLang="en-US" sz="1200" dirty="0" smtClean="0"/>
                        <a:t> 기술적 논리력과 크리에이티브한 디자인 감각을 결합했을 때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단순한 아이디어를 넘어 사용자가 실제로 체감할 수 있는 완성도 높은 </a:t>
                      </a:r>
                      <a:r>
                        <a:rPr lang="ko-KR" altLang="en-US" sz="1200" dirty="0" err="1" smtClean="0"/>
                        <a:t>프로덕트를</a:t>
                      </a:r>
                      <a:r>
                        <a:rPr lang="ko-KR" altLang="en-US" sz="1200" dirty="0" smtClean="0"/>
                        <a:t> 만들 수 있음을 깨달았습니다</a:t>
                      </a:r>
                      <a:r>
                        <a:rPr lang="en-US" altLang="ko-KR" sz="1200" dirty="0" smtClean="0"/>
                        <a:t>.</a:t>
                      </a:r>
                    </a:p>
                  </a:txBody>
                  <a:tcPr marL="48578" marR="48578" marT="13430" marB="13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342417" y="237020"/>
            <a:ext cx="88756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b="1" dirty="0">
                <a:latin typeface="+mn-ea"/>
              </a:rPr>
              <a:t>키워드 별 </a:t>
            </a:r>
            <a:r>
              <a:rPr lang="en-US" altLang="ko-KR" sz="1600" b="1" dirty="0">
                <a:latin typeface="+mn-ea"/>
              </a:rPr>
              <a:t> </a:t>
            </a:r>
            <a:r>
              <a:rPr lang="ko-KR" altLang="en-US" sz="1600" b="1" dirty="0">
                <a:latin typeface="+mn-ea"/>
              </a:rPr>
              <a:t>경험 정리 </a:t>
            </a:r>
            <a:r>
              <a:rPr lang="en-US" altLang="ko-KR" sz="1600" b="1" dirty="0">
                <a:latin typeface="+mn-ea"/>
              </a:rPr>
              <a:t>(</a:t>
            </a:r>
            <a:r>
              <a:rPr lang="ko-KR" altLang="en-US" sz="1600" b="1" dirty="0" err="1">
                <a:latin typeface="+mn-ea"/>
              </a:rPr>
              <a:t>현재키워드는</a:t>
            </a:r>
            <a:r>
              <a:rPr lang="ko-KR" altLang="en-US" sz="1600" b="1" dirty="0">
                <a:latin typeface="+mn-ea"/>
              </a:rPr>
              <a:t> 예시임</a:t>
            </a:r>
            <a:r>
              <a:rPr lang="en-US" altLang="ko-KR" sz="1600" b="1" dirty="0">
                <a:latin typeface="+mn-ea"/>
              </a:rPr>
              <a:t>/</a:t>
            </a:r>
            <a:r>
              <a:rPr lang="ko-KR" altLang="en-US" sz="1600" b="1" dirty="0">
                <a:latin typeface="+mn-ea"/>
              </a:rPr>
              <a:t>본인의 경험에 따른 키워드 재설정할 것</a:t>
            </a:r>
            <a:r>
              <a:rPr lang="en-US" altLang="ko-KR" sz="1600" b="1" dirty="0">
                <a:latin typeface="+mn-ea"/>
              </a:rPr>
              <a:t>)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en-US" altLang="ko-KR" sz="1600" b="1" dirty="0">
                <a:latin typeface="+mn-ea"/>
              </a:rPr>
              <a:t> </a:t>
            </a:r>
            <a:endParaRPr lang="ko-KR" altLang="en-US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33679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599735"/>
              </p:ext>
            </p:extLst>
          </p:nvPr>
        </p:nvGraphicFramePr>
        <p:xfrm>
          <a:off x="700391" y="1330272"/>
          <a:ext cx="14766588" cy="6957694"/>
        </p:xfrm>
        <a:graphic>
          <a:graphicData uri="http://schemas.openxmlformats.org/drawingml/2006/table">
            <a:tbl>
              <a:tblPr/>
              <a:tblGrid>
                <a:gridCol w="5010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56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1893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경 험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48578" marR="48578" marT="13430" marB="13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내 용 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48578" marR="48578" marT="13430" marB="13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207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성실성</a:t>
                      </a:r>
                      <a:r>
                        <a:rPr lang="en-US" altLang="ko-KR" sz="1200" b="1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,</a:t>
                      </a: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꼼꼼함</a:t>
                      </a:r>
                      <a:r>
                        <a:rPr lang="en-US" altLang="ko-KR" sz="1200" b="1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,</a:t>
                      </a: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위험관리력</a:t>
                      </a:r>
                      <a:endParaRPr lang="en-US" altLang="ko-KR" sz="1200" b="1" kern="0" spc="0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48578" marR="48578" marT="13430" marB="13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1" dirty="0" smtClean="0">
                          <a:latin typeface="+mn-lt"/>
                        </a:rPr>
                        <a:t>S:</a:t>
                      </a:r>
                      <a:r>
                        <a:rPr lang="ko-KR" altLang="en-US" sz="1200" dirty="0" smtClean="0"/>
                        <a:t>제주</a:t>
                      </a:r>
                      <a:r>
                        <a:rPr lang="en-US" altLang="ko-KR" sz="1200" dirty="0" smtClean="0"/>
                        <a:t>MBC </a:t>
                      </a:r>
                      <a:r>
                        <a:rPr lang="ko-KR" altLang="en-US" sz="1200" dirty="0" smtClean="0"/>
                        <a:t>근무 당시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방송 프로그램 운영의 핵심인 정산 업무를 담당하게 되었습니다</a:t>
                      </a:r>
                      <a:r>
                        <a:rPr lang="en-US" altLang="ko-KR" sz="1200" dirty="0" smtClean="0"/>
                        <a:t>.</a:t>
                      </a:r>
                    </a:p>
                    <a:p>
                      <a:r>
                        <a:rPr lang="en-US" altLang="ko-KR" sz="1200" b="1" dirty="0" smtClean="0"/>
                        <a:t>T:</a:t>
                      </a:r>
                      <a:r>
                        <a:rPr lang="ko-KR" altLang="en-US" sz="1200" dirty="0" smtClean="0"/>
                        <a:t> 수많은 증빙 자료와 계산서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예산 데이터를 누락이나 오류 없이 완벽하게 관리하고 정산해야 하는 높은 정확성이 요구되었습니다</a:t>
                      </a:r>
                      <a:r>
                        <a:rPr lang="en-US" altLang="ko-KR" sz="1200" dirty="0" smtClean="0"/>
                        <a:t>.</a:t>
                      </a:r>
                    </a:p>
                    <a:p>
                      <a:r>
                        <a:rPr lang="en-US" altLang="ko-KR" sz="1200" b="1" dirty="0" smtClean="0"/>
                        <a:t>A:</a:t>
                      </a:r>
                      <a:r>
                        <a:rPr lang="ko-KR" altLang="en-US" sz="1200" dirty="0" smtClean="0"/>
                        <a:t> 특유의 꼼꼼함과 철저한 자기주도적 성실함을 바탕으로 모든 증빙 자료를 체계적으로 분류하고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더블 체크 프로세스를 통해 마감 시 한 치의 오차도 허용하지 않도록 업무를 수행했습니다</a:t>
                      </a:r>
                      <a:r>
                        <a:rPr lang="en-US" altLang="ko-KR" sz="1200" dirty="0" smtClean="0"/>
                        <a:t>.</a:t>
                      </a:r>
                    </a:p>
                    <a:p>
                      <a:r>
                        <a:rPr lang="en-US" altLang="ko-KR" sz="1200" b="1" dirty="0" smtClean="0"/>
                        <a:t>R:</a:t>
                      </a:r>
                      <a:r>
                        <a:rPr lang="ko-KR" altLang="en-US" sz="1200" dirty="0" smtClean="0"/>
                        <a:t> 수많은 정산 건수 중 단 한 건의 누락이나 예산 오류 없이 완벽하게 업무를 처리하여 조직 내에서 두터운 신뢰를 얻었습니다</a:t>
                      </a:r>
                      <a:r>
                        <a:rPr lang="en-US" altLang="ko-KR" sz="1200" dirty="0" smtClean="0"/>
                        <a:t>.</a:t>
                      </a:r>
                    </a:p>
                    <a:p>
                      <a:endParaRPr lang="en-US" altLang="ko-KR" sz="1200" dirty="0" smtClean="0"/>
                    </a:p>
                    <a:p>
                      <a:r>
                        <a:rPr lang="ko-KR" altLang="en-US" sz="1200" b="1" dirty="0" smtClean="0"/>
                        <a:t>배운 점</a:t>
                      </a:r>
                      <a:r>
                        <a:rPr lang="en-US" altLang="ko-KR" sz="1200" b="1" dirty="0" smtClean="0"/>
                        <a:t>:</a:t>
                      </a:r>
                      <a:r>
                        <a:rPr lang="ko-KR" altLang="en-US" sz="1200" dirty="0" smtClean="0"/>
                        <a:t> 보이지 않는 정산 자료 하나가 조직의 신뢰도를 결정한다는 책임감을 배웠으며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철저한 디테일 관리가 완벽한 리스크 관리의 기본임을 체득했습니다</a:t>
                      </a:r>
                      <a:r>
                        <a:rPr lang="en-US" altLang="ko-KR" sz="1200" dirty="0" smtClean="0"/>
                        <a:t>.</a:t>
                      </a:r>
                    </a:p>
                  </a:txBody>
                  <a:tcPr marL="48578" marR="48578" marT="13430" marB="13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668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고객중심사고</a:t>
                      </a:r>
                      <a:r>
                        <a:rPr lang="en-US" altLang="ko-KR" sz="1200" b="1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,</a:t>
                      </a: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소통능력</a:t>
                      </a:r>
                      <a:r>
                        <a:rPr lang="en-US" altLang="ko-KR" sz="1200" b="1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,</a:t>
                      </a: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현장감각</a:t>
                      </a:r>
                      <a:endParaRPr lang="en-US" altLang="ko-KR" sz="1200" b="1" kern="0" spc="0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48578" marR="48578" marT="13430" marB="13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1" dirty="0" smtClean="0"/>
                        <a:t>S (Situation):</a:t>
                      </a:r>
                      <a:r>
                        <a:rPr lang="ko-KR" altLang="en-US" sz="1200" dirty="0" smtClean="0"/>
                        <a:t> 오프라인 </a:t>
                      </a:r>
                      <a:r>
                        <a:rPr lang="ko-KR" altLang="en-US" sz="1200" dirty="0" err="1" smtClean="0"/>
                        <a:t>체험형</a:t>
                      </a:r>
                      <a:r>
                        <a:rPr lang="ko-KR" altLang="en-US" sz="1200" dirty="0" smtClean="0"/>
                        <a:t> 공간인 </a:t>
                      </a:r>
                      <a:r>
                        <a:rPr lang="en-US" altLang="ko-KR" sz="1200" dirty="0" smtClean="0"/>
                        <a:t>'</a:t>
                      </a:r>
                      <a:r>
                        <a:rPr lang="ko-KR" altLang="en-US" sz="1200" dirty="0" err="1" smtClean="0"/>
                        <a:t>다이나믹메이즈</a:t>
                      </a:r>
                      <a:r>
                        <a:rPr lang="en-US" altLang="ko-KR" sz="1200" dirty="0" smtClean="0"/>
                        <a:t>'</a:t>
                      </a:r>
                      <a:r>
                        <a:rPr lang="ko-KR" altLang="en-US" sz="1200" dirty="0" smtClean="0"/>
                        <a:t>에서 근무하며 현장 방문객들의 유입을 늘리고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이를 온라인 채널 활성화로 연결해야 하는 과제가 있었습니다</a:t>
                      </a:r>
                      <a:r>
                        <a:rPr lang="en-US" altLang="ko-KR" sz="1200" dirty="0" smtClean="0"/>
                        <a:t>.</a:t>
                      </a:r>
                    </a:p>
                    <a:p>
                      <a:r>
                        <a:rPr lang="en-US" altLang="ko-KR" sz="1200" b="1" dirty="0" smtClean="0"/>
                        <a:t>T (Task):</a:t>
                      </a:r>
                      <a:r>
                        <a:rPr lang="ko-KR" altLang="en-US" sz="1200" dirty="0" smtClean="0"/>
                        <a:t> 현장 고객들의 특성을 파악하여 흥미를 유발할 수 있는 오프라인 이벤트와 홍보 포스터를 기획하고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실제 참여를 이끌어내야 했습니다</a:t>
                      </a:r>
                      <a:r>
                        <a:rPr lang="en-US" altLang="ko-KR" sz="1200" dirty="0" smtClean="0"/>
                        <a:t>.</a:t>
                      </a:r>
                    </a:p>
                    <a:p>
                      <a:r>
                        <a:rPr lang="en-US" altLang="ko-KR" sz="1200" b="1" dirty="0" smtClean="0"/>
                        <a:t>A (Action):</a:t>
                      </a:r>
                      <a:r>
                        <a:rPr lang="ko-KR" altLang="en-US" sz="1200" dirty="0" smtClean="0"/>
                        <a:t> 기획 단계에만 머무르지 않고 </a:t>
                      </a:r>
                      <a:r>
                        <a:rPr lang="ko-KR" altLang="en-US" sz="1200" b="1" dirty="0" smtClean="0"/>
                        <a:t>현장에서 고객들의 실시간 반응과 피드백을 직접 관찰하며 소통</a:t>
                      </a:r>
                      <a:r>
                        <a:rPr lang="ko-KR" altLang="en-US" sz="1200" dirty="0" smtClean="0"/>
                        <a:t>했습니다</a:t>
                      </a:r>
                      <a:r>
                        <a:rPr lang="en-US" altLang="ko-KR" sz="1200" dirty="0" smtClean="0"/>
                        <a:t>. </a:t>
                      </a:r>
                      <a:r>
                        <a:rPr lang="ko-KR" altLang="en-US" sz="1200" dirty="0" smtClean="0"/>
                        <a:t>어떤 포인트에서 고객들이 즐거워하고 반응하는지 파악하여 이벤트와 콘텐츠를 유연하게 개선했고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이를 온라인 </a:t>
                      </a:r>
                      <a:r>
                        <a:rPr lang="en-US" altLang="ko-KR" sz="1200" dirty="0" smtClean="0"/>
                        <a:t>SNS </a:t>
                      </a:r>
                      <a:r>
                        <a:rPr lang="ko-KR" altLang="en-US" sz="1200" dirty="0" smtClean="0"/>
                        <a:t>참여로 자연스럽게 유도했습니다</a:t>
                      </a:r>
                      <a:r>
                        <a:rPr lang="en-US" altLang="ko-KR" sz="1200" dirty="0" smtClean="0"/>
                        <a:t>.</a:t>
                      </a:r>
                    </a:p>
                    <a:p>
                      <a:r>
                        <a:rPr lang="en-US" altLang="ko-KR" sz="1200" b="1" dirty="0" smtClean="0"/>
                        <a:t>R (Result):</a:t>
                      </a:r>
                      <a:r>
                        <a:rPr lang="ko-KR" altLang="en-US" sz="1200" dirty="0" smtClean="0"/>
                        <a:t> 현장 밀착형 소통을 통해 고객들의 자발적인 참여를 이끌어냈고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결과적으로 </a:t>
                      </a:r>
                      <a:r>
                        <a:rPr lang="en-US" altLang="ko-KR" sz="1200" b="1" dirty="0" smtClean="0"/>
                        <a:t>SNS </a:t>
                      </a:r>
                      <a:r>
                        <a:rPr lang="ko-KR" altLang="en-US" sz="1200" b="1" dirty="0" err="1" smtClean="0"/>
                        <a:t>팔로워</a:t>
                      </a:r>
                      <a:r>
                        <a:rPr lang="ko-KR" altLang="en-US" sz="1200" b="1" dirty="0" smtClean="0"/>
                        <a:t> 수를 기존 대비 </a:t>
                      </a:r>
                      <a:r>
                        <a:rPr lang="en-US" altLang="ko-KR" sz="1200" b="1" dirty="0" smtClean="0"/>
                        <a:t>2.4</a:t>
                      </a:r>
                      <a:r>
                        <a:rPr lang="ko-KR" altLang="en-US" sz="1200" b="1" dirty="0" smtClean="0"/>
                        <a:t>배 이상 증가</a:t>
                      </a:r>
                      <a:r>
                        <a:rPr lang="ko-KR" altLang="en-US" sz="1200" dirty="0" smtClean="0"/>
                        <a:t>시키는 성과를 거두었습니다</a:t>
                      </a:r>
                      <a:r>
                        <a:rPr lang="en-US" altLang="ko-KR" sz="1200" dirty="0" smtClean="0"/>
                        <a:t>.</a:t>
                      </a:r>
                    </a:p>
                    <a:p>
                      <a:endParaRPr lang="en-US" altLang="ko-KR" sz="1200" dirty="0" smtClean="0"/>
                    </a:p>
                    <a:p>
                      <a:r>
                        <a:rPr lang="ko-KR" altLang="en-US" sz="1200" b="1" dirty="0" smtClean="0"/>
                        <a:t>배운 점 </a:t>
                      </a:r>
                      <a:r>
                        <a:rPr lang="en-US" altLang="ko-KR" sz="1200" b="1" dirty="0" smtClean="0"/>
                        <a:t>(Takeaway):</a:t>
                      </a:r>
                      <a:r>
                        <a:rPr lang="ko-KR" altLang="en-US" sz="1200" dirty="0" smtClean="0"/>
                        <a:t> 마케팅의 정답은 언제나 </a:t>
                      </a:r>
                      <a:r>
                        <a:rPr lang="en-US" altLang="ko-KR" sz="1200" b="1" dirty="0" smtClean="0"/>
                        <a:t>'</a:t>
                      </a:r>
                      <a:r>
                        <a:rPr lang="ko-KR" altLang="en-US" sz="1200" b="1" dirty="0" smtClean="0"/>
                        <a:t>고객의 생생한 반응</a:t>
                      </a:r>
                      <a:r>
                        <a:rPr lang="en-US" altLang="ko-KR" sz="1200" b="1" dirty="0" smtClean="0"/>
                        <a:t>'</a:t>
                      </a:r>
                      <a:r>
                        <a:rPr lang="ko-KR" altLang="en-US" sz="1200" dirty="0" smtClean="0"/>
                        <a:t> 속에 있다는 것을 배웠습니다</a:t>
                      </a:r>
                      <a:r>
                        <a:rPr lang="en-US" altLang="ko-KR" sz="1200" dirty="0" smtClean="0"/>
                        <a:t>. </a:t>
                      </a:r>
                      <a:r>
                        <a:rPr lang="ko-KR" altLang="en-US" sz="1200" dirty="0" smtClean="0"/>
                        <a:t>현장에서 직접 확인한 고객의 실시간 피드백과 소통 경험은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데이터 이면에 숨겨진 사람의 마음을 읽고 행동을 이끌어내는 가장 강력한 마케팅 자산이 됨을 깨달았습니다</a:t>
                      </a:r>
                    </a:p>
                  </a:txBody>
                  <a:tcPr marL="48578" marR="48578" marT="13430" marB="13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00391" y="334296"/>
            <a:ext cx="91285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b="1" dirty="0">
                <a:latin typeface="+mn-ea"/>
              </a:rPr>
              <a:t>키워드 별 </a:t>
            </a:r>
            <a:r>
              <a:rPr lang="en-US" altLang="ko-KR" sz="1600" b="1" dirty="0">
                <a:latin typeface="+mn-ea"/>
              </a:rPr>
              <a:t> </a:t>
            </a:r>
            <a:r>
              <a:rPr lang="ko-KR" altLang="en-US" sz="1600" b="1" dirty="0">
                <a:latin typeface="+mn-ea"/>
              </a:rPr>
              <a:t>경험 정리 </a:t>
            </a:r>
            <a:r>
              <a:rPr lang="en-US" altLang="ko-KR" sz="1600" b="1" dirty="0">
                <a:latin typeface="+mn-ea"/>
              </a:rPr>
              <a:t>(</a:t>
            </a:r>
            <a:r>
              <a:rPr lang="ko-KR" altLang="en-US" sz="1600" b="1" dirty="0" err="1">
                <a:latin typeface="+mn-ea"/>
              </a:rPr>
              <a:t>현재키워드는</a:t>
            </a:r>
            <a:r>
              <a:rPr lang="ko-KR" altLang="en-US" sz="1600" b="1" dirty="0">
                <a:latin typeface="+mn-ea"/>
              </a:rPr>
              <a:t> 예시임</a:t>
            </a:r>
            <a:r>
              <a:rPr lang="en-US" altLang="ko-KR" sz="1600" b="1" dirty="0">
                <a:latin typeface="+mn-ea"/>
              </a:rPr>
              <a:t>/</a:t>
            </a:r>
            <a:r>
              <a:rPr lang="ko-KR" altLang="en-US" sz="1600" b="1" dirty="0">
                <a:latin typeface="+mn-ea"/>
              </a:rPr>
              <a:t>본인의 경험에 따른 키워드 재설정할 것</a:t>
            </a:r>
            <a:r>
              <a:rPr lang="en-US" altLang="ko-KR" sz="1600" b="1" dirty="0">
                <a:latin typeface="+mn-ea"/>
              </a:rPr>
              <a:t>)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en-US" altLang="ko-KR" sz="1600" b="1" dirty="0">
                <a:latin typeface="+mn-ea"/>
              </a:rPr>
              <a:t> </a:t>
            </a:r>
            <a:endParaRPr lang="ko-KR" altLang="en-US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56239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994231"/>
              </p:ext>
            </p:extLst>
          </p:nvPr>
        </p:nvGraphicFramePr>
        <p:xfrm>
          <a:off x="642027" y="1330271"/>
          <a:ext cx="14922228" cy="6646409"/>
        </p:xfrm>
        <a:graphic>
          <a:graphicData uri="http://schemas.openxmlformats.org/drawingml/2006/table">
            <a:tbl>
              <a:tblPr/>
              <a:tblGrid>
                <a:gridCol w="5063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59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318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경 험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48578" marR="48578" marT="13430" marB="13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내 용 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48578" marR="48578" marT="13430" marB="13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675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도전정신</a:t>
                      </a:r>
                      <a:r>
                        <a:rPr lang="en-US" altLang="ko-KR" sz="1200" b="1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,</a:t>
                      </a: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창의성</a:t>
                      </a:r>
                      <a:r>
                        <a:rPr lang="en-US" altLang="ko-KR" sz="1200" b="1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,</a:t>
                      </a: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주도성</a:t>
                      </a:r>
                      <a:endParaRPr lang="en-US" altLang="ko-KR" sz="1200" b="1" kern="0" spc="0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48578" marR="48578" marT="13430" marB="13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/>
                      <a:r>
                        <a:rPr lang="en-US" altLang="ko-KR" sz="1200" b="1" dirty="0" smtClean="0">
                          <a:effectLst/>
                          <a:latin typeface="+mn-lt"/>
                        </a:rPr>
                        <a:t>S:</a:t>
                      </a:r>
                      <a:r>
                        <a:rPr lang="ko-KR" altLang="en-US" sz="1200" dirty="0" smtClean="0">
                          <a:effectLst/>
                          <a:latin typeface="+mn-lt"/>
                        </a:rPr>
                        <a:t> 제주관광공사 협업 프로젝트인 </a:t>
                      </a:r>
                      <a:r>
                        <a:rPr lang="en-US" altLang="ko-KR" sz="1200" dirty="0" smtClean="0">
                          <a:effectLst/>
                          <a:latin typeface="+mn-lt"/>
                        </a:rPr>
                        <a:t>'</a:t>
                      </a:r>
                      <a:r>
                        <a:rPr lang="ko-KR" altLang="en-US" sz="1200" dirty="0" err="1" smtClean="0">
                          <a:effectLst/>
                          <a:latin typeface="+mn-lt"/>
                        </a:rPr>
                        <a:t>웰니스관광</a:t>
                      </a:r>
                      <a:r>
                        <a:rPr lang="ko-KR" altLang="en-US" sz="1200" dirty="0" smtClean="0">
                          <a:effectLst/>
                          <a:latin typeface="+mn-lt"/>
                        </a:rPr>
                        <a:t> 캡스톤디자인 대회</a:t>
                      </a:r>
                      <a:r>
                        <a:rPr lang="en-US" altLang="ko-KR" sz="1200" dirty="0" smtClean="0">
                          <a:effectLst/>
                          <a:latin typeface="+mn-lt"/>
                        </a:rPr>
                        <a:t>'</a:t>
                      </a:r>
                      <a:r>
                        <a:rPr lang="ko-KR" altLang="en-US" sz="1200" dirty="0" smtClean="0">
                          <a:effectLst/>
                          <a:latin typeface="+mn-lt"/>
                        </a:rPr>
                        <a:t>에 참가하여 차별화된 관광 콘텐츠를 제안해야 했습니다</a:t>
                      </a:r>
                      <a:r>
                        <a:rPr lang="en-US" altLang="ko-KR" sz="1200" dirty="0" smtClean="0">
                          <a:effectLst/>
                          <a:latin typeface="+mn-lt"/>
                        </a:rPr>
                        <a:t>.</a:t>
                      </a:r>
                    </a:p>
                    <a:p>
                      <a:pPr lvl="0" rtl="0"/>
                      <a:r>
                        <a:rPr lang="en-US" altLang="ko-KR" sz="1200" b="1" dirty="0" smtClean="0">
                          <a:effectLst/>
                          <a:latin typeface="+mn-lt"/>
                        </a:rPr>
                        <a:t>T:</a:t>
                      </a:r>
                      <a:r>
                        <a:rPr lang="ko-KR" altLang="en-US" sz="1200" dirty="0" smtClean="0">
                          <a:effectLst/>
                          <a:latin typeface="+mn-lt"/>
                        </a:rPr>
                        <a:t> 제주의 지역적 특색을 살리면서도 실제 여행자들이 매력을 느끼고 소비할 수 있는 </a:t>
                      </a:r>
                      <a:r>
                        <a:rPr lang="ko-KR" altLang="en-US" sz="1200" dirty="0" err="1" smtClean="0">
                          <a:effectLst/>
                          <a:latin typeface="+mn-lt"/>
                        </a:rPr>
                        <a:t>체험형</a:t>
                      </a:r>
                      <a:r>
                        <a:rPr lang="ko-KR" altLang="en-US" sz="1200" dirty="0" smtClean="0">
                          <a:effectLst/>
                          <a:latin typeface="+mn-lt"/>
                        </a:rPr>
                        <a:t> 관광 상품 루트를 기획하는 것이 목표였습니다</a:t>
                      </a:r>
                      <a:r>
                        <a:rPr lang="en-US" altLang="ko-KR" sz="1200" dirty="0" smtClean="0">
                          <a:effectLst/>
                          <a:latin typeface="+mn-lt"/>
                        </a:rPr>
                        <a:t>.</a:t>
                      </a:r>
                    </a:p>
                    <a:p>
                      <a:pPr lvl="0" rtl="0"/>
                      <a:r>
                        <a:rPr lang="en-US" altLang="ko-KR" sz="1200" b="1" dirty="0" smtClean="0">
                          <a:effectLst/>
                          <a:latin typeface="+mn-lt"/>
                        </a:rPr>
                        <a:t>A:</a:t>
                      </a:r>
                      <a:r>
                        <a:rPr lang="ko-KR" altLang="en-US" sz="1200" dirty="0" smtClean="0">
                          <a:effectLst/>
                          <a:latin typeface="+mn-lt"/>
                        </a:rPr>
                        <a:t> 팀의 기획을 주도하며 전통 복식인 </a:t>
                      </a:r>
                      <a:r>
                        <a:rPr lang="en-US" altLang="ko-KR" sz="1200" dirty="0" smtClean="0">
                          <a:effectLst/>
                          <a:latin typeface="+mn-lt"/>
                        </a:rPr>
                        <a:t>'</a:t>
                      </a:r>
                      <a:r>
                        <a:rPr lang="ko-KR" altLang="en-US" sz="1200" dirty="0" err="1" smtClean="0">
                          <a:effectLst/>
                          <a:latin typeface="+mn-lt"/>
                        </a:rPr>
                        <a:t>갈옷</a:t>
                      </a:r>
                      <a:r>
                        <a:rPr lang="en-US" altLang="ko-KR" sz="1200" dirty="0" smtClean="0">
                          <a:effectLst/>
                          <a:latin typeface="+mn-lt"/>
                        </a:rPr>
                        <a:t>'</a:t>
                      </a:r>
                      <a:r>
                        <a:rPr lang="ko-KR" altLang="en-US" sz="1200" dirty="0" smtClean="0">
                          <a:effectLst/>
                          <a:latin typeface="+mn-lt"/>
                        </a:rPr>
                        <a:t>을 여행자 </a:t>
                      </a:r>
                      <a:r>
                        <a:rPr lang="ko-KR" altLang="en-US" sz="1200" dirty="0" err="1" smtClean="0">
                          <a:effectLst/>
                          <a:latin typeface="+mn-lt"/>
                        </a:rPr>
                        <a:t>체험형</a:t>
                      </a:r>
                      <a:r>
                        <a:rPr lang="ko-KR" altLang="en-US" sz="1200" dirty="0" smtClean="0">
                          <a:effectLst/>
                          <a:latin typeface="+mn-lt"/>
                        </a:rPr>
                        <a:t> 콘텐츠로 발굴하고 구체적인 여행 루트를 설계했습니다</a:t>
                      </a:r>
                      <a:r>
                        <a:rPr lang="en-US" altLang="ko-KR" sz="1200" dirty="0" smtClean="0">
                          <a:effectLst/>
                          <a:latin typeface="+mn-lt"/>
                        </a:rPr>
                        <a:t>. </a:t>
                      </a:r>
                      <a:r>
                        <a:rPr lang="ko-KR" altLang="en-US" sz="1200" dirty="0" smtClean="0">
                          <a:effectLst/>
                          <a:latin typeface="+mn-lt"/>
                        </a:rPr>
                        <a:t>프로젝트 이후에는 </a:t>
                      </a:r>
                      <a:r>
                        <a:rPr lang="ko-KR" altLang="en-US" sz="1200" dirty="0" err="1" smtClean="0">
                          <a:effectLst/>
                          <a:latin typeface="+mn-lt"/>
                        </a:rPr>
                        <a:t>인스타그램</a:t>
                      </a:r>
                      <a:r>
                        <a:rPr lang="ko-KR" altLang="en-US" sz="1200" dirty="0" smtClean="0">
                          <a:effectLst/>
                          <a:latin typeface="+mn-lt"/>
                        </a:rPr>
                        <a:t> 채널</a:t>
                      </a:r>
                      <a:r>
                        <a:rPr lang="en-US" altLang="ko-KR" sz="1200" dirty="0" smtClean="0">
                          <a:effectLst/>
                          <a:latin typeface="+mn-lt"/>
                        </a:rPr>
                        <a:t>(</a:t>
                      </a:r>
                      <a:r>
                        <a:rPr lang="ko-KR" altLang="en-US" sz="1200" dirty="0" smtClean="0">
                          <a:effectLst/>
                          <a:latin typeface="+mn-lt"/>
                        </a:rPr>
                        <a:t>갈대인</a:t>
                      </a:r>
                      <a:r>
                        <a:rPr lang="en-US" altLang="ko-KR" sz="1200" dirty="0" smtClean="0">
                          <a:effectLst/>
                          <a:latin typeface="+mn-lt"/>
                        </a:rPr>
                        <a:t>)</a:t>
                      </a:r>
                      <a:r>
                        <a:rPr lang="ko-KR" altLang="en-US" sz="1200" dirty="0" smtClean="0">
                          <a:effectLst/>
                          <a:latin typeface="+mn-lt"/>
                        </a:rPr>
                        <a:t>을 직접 개설하여 브랜드의 </a:t>
                      </a:r>
                      <a:r>
                        <a:rPr lang="ko-KR" altLang="en-US" sz="1200" dirty="0" err="1" smtClean="0">
                          <a:effectLst/>
                          <a:latin typeface="+mn-lt"/>
                        </a:rPr>
                        <a:t>톤앤매너를</a:t>
                      </a:r>
                      <a:r>
                        <a:rPr lang="ko-KR" altLang="en-US" sz="1200" dirty="0" smtClean="0">
                          <a:effectLst/>
                          <a:latin typeface="+mn-lt"/>
                        </a:rPr>
                        <a:t> 일관되게 유지하고</a:t>
                      </a:r>
                      <a:r>
                        <a:rPr lang="en-US" altLang="ko-KR" sz="1200" dirty="0" smtClean="0">
                          <a:effectLst/>
                          <a:latin typeface="+mn-lt"/>
                        </a:rPr>
                        <a:t>, </a:t>
                      </a:r>
                      <a:r>
                        <a:rPr lang="ko-KR" altLang="en-US" sz="1200" dirty="0" err="1" smtClean="0">
                          <a:effectLst/>
                          <a:latin typeface="+mn-lt"/>
                        </a:rPr>
                        <a:t>카드뉴스와</a:t>
                      </a:r>
                      <a:r>
                        <a:rPr lang="ko-KR" altLang="en-US" sz="1200" dirty="0" smtClean="0">
                          <a:effectLst/>
                          <a:latin typeface="+mn-lt"/>
                        </a:rPr>
                        <a:t> 스토리를 제작해 잠재 고객과 소통했습니다</a:t>
                      </a:r>
                      <a:r>
                        <a:rPr lang="en-US" altLang="ko-KR" sz="1200" dirty="0" smtClean="0">
                          <a:effectLst/>
                          <a:latin typeface="+mn-lt"/>
                        </a:rPr>
                        <a:t>.</a:t>
                      </a:r>
                    </a:p>
                    <a:p>
                      <a:pPr lvl="0" rtl="0"/>
                      <a:r>
                        <a:rPr lang="en-US" altLang="ko-KR" sz="1200" b="1" dirty="0" smtClean="0">
                          <a:effectLst/>
                          <a:latin typeface="+mn-lt"/>
                        </a:rPr>
                        <a:t>R:</a:t>
                      </a:r>
                      <a:r>
                        <a:rPr lang="ko-KR" altLang="en-US" sz="1200" dirty="0" smtClean="0">
                          <a:effectLst/>
                          <a:latin typeface="+mn-lt"/>
                        </a:rPr>
                        <a:t> 독창성과 기획력을 인정받아 대회에서 </a:t>
                      </a:r>
                      <a:r>
                        <a:rPr lang="ko-KR" altLang="en-US" sz="1200" b="1" dirty="0" smtClean="0">
                          <a:effectLst/>
                          <a:latin typeface="+mn-lt"/>
                        </a:rPr>
                        <a:t>우수상</a:t>
                      </a:r>
                      <a:r>
                        <a:rPr lang="en-US" altLang="ko-KR" sz="1200" b="1" dirty="0" smtClean="0">
                          <a:effectLst/>
                          <a:latin typeface="+mn-lt"/>
                        </a:rPr>
                        <a:t>, </a:t>
                      </a:r>
                      <a:r>
                        <a:rPr lang="ko-KR" altLang="en-US" sz="1200" b="1" dirty="0" smtClean="0">
                          <a:effectLst/>
                          <a:latin typeface="+mn-lt"/>
                        </a:rPr>
                        <a:t>특별상</a:t>
                      </a:r>
                      <a:r>
                        <a:rPr lang="en-US" altLang="ko-KR" sz="1200" b="1" dirty="0" smtClean="0">
                          <a:effectLst/>
                          <a:latin typeface="+mn-lt"/>
                        </a:rPr>
                        <a:t>, </a:t>
                      </a:r>
                      <a:r>
                        <a:rPr lang="ko-KR" altLang="en-US" sz="1200" b="1" dirty="0" smtClean="0">
                          <a:effectLst/>
                          <a:latin typeface="+mn-lt"/>
                        </a:rPr>
                        <a:t>인기상 </a:t>
                      </a:r>
                      <a:r>
                        <a:rPr lang="en-US" altLang="ko-KR" sz="1200" b="1" dirty="0" smtClean="0">
                          <a:effectLst/>
                          <a:latin typeface="+mn-lt"/>
                        </a:rPr>
                        <a:t>3</a:t>
                      </a:r>
                      <a:r>
                        <a:rPr lang="ko-KR" altLang="en-US" sz="1200" b="1" dirty="0" smtClean="0">
                          <a:effectLst/>
                          <a:latin typeface="+mn-lt"/>
                        </a:rPr>
                        <a:t>관왕</a:t>
                      </a:r>
                      <a:r>
                        <a:rPr lang="ko-KR" altLang="en-US" sz="1200" dirty="0" smtClean="0">
                          <a:effectLst/>
                          <a:latin typeface="+mn-lt"/>
                        </a:rPr>
                        <a:t>을 달성하는 쾌거를 이루었습니다</a:t>
                      </a:r>
                      <a:r>
                        <a:rPr lang="en-US" altLang="ko-KR" sz="1200" dirty="0" smtClean="0">
                          <a:effectLst/>
                          <a:latin typeface="+mn-lt"/>
                        </a:rPr>
                        <a:t>.</a:t>
                      </a:r>
                    </a:p>
                    <a:p>
                      <a:pPr lvl="0" rtl="0"/>
                      <a:endParaRPr lang="en-US" altLang="ko-KR" sz="1200" dirty="0" smtClean="0">
                        <a:effectLst/>
                        <a:latin typeface="+mn-lt"/>
                      </a:endParaRPr>
                    </a:p>
                    <a:p>
                      <a:pPr rtl="0"/>
                      <a:r>
                        <a:rPr lang="ko-KR" altLang="en-US" sz="1200" b="1" dirty="0" smtClean="0">
                          <a:effectLst/>
                          <a:latin typeface="+mn-lt"/>
                        </a:rPr>
                        <a:t>배운 점</a:t>
                      </a:r>
                      <a:r>
                        <a:rPr lang="en-US" altLang="ko-KR" sz="1200" b="1" dirty="0" smtClean="0">
                          <a:effectLst/>
                          <a:latin typeface="+mn-lt"/>
                        </a:rPr>
                        <a:t>:</a:t>
                      </a:r>
                      <a:r>
                        <a:rPr lang="ko-KR" altLang="en-US" sz="1200" dirty="0" smtClean="0">
                          <a:effectLst/>
                          <a:latin typeface="+mn-lt"/>
                        </a:rPr>
                        <a:t> 전통 자산에 </a:t>
                      </a:r>
                      <a:r>
                        <a:rPr lang="ko-KR" altLang="en-US" sz="1200" dirty="0" err="1" smtClean="0">
                          <a:effectLst/>
                          <a:latin typeface="+mn-lt"/>
                        </a:rPr>
                        <a:t>트렌디한</a:t>
                      </a:r>
                      <a:r>
                        <a:rPr lang="ko-KR" altLang="en-US" sz="1200" dirty="0" smtClean="0">
                          <a:effectLst/>
                          <a:latin typeface="+mn-lt"/>
                        </a:rPr>
                        <a:t> 시각적 스토리를 입혔을 때 강력한 상품 가치가 창출된다는 것을 배웠으며</a:t>
                      </a:r>
                      <a:r>
                        <a:rPr lang="en-US" altLang="ko-KR" sz="1200" dirty="0" smtClean="0">
                          <a:effectLst/>
                          <a:latin typeface="+mn-lt"/>
                        </a:rPr>
                        <a:t>, </a:t>
                      </a:r>
                      <a:r>
                        <a:rPr lang="ko-KR" altLang="en-US" sz="1200" dirty="0" smtClean="0">
                          <a:effectLst/>
                          <a:latin typeface="+mn-lt"/>
                        </a:rPr>
                        <a:t>타깃 분석부터 실행</a:t>
                      </a:r>
                      <a:r>
                        <a:rPr lang="en-US" altLang="ko-KR" sz="1200" dirty="0" smtClean="0">
                          <a:effectLst/>
                          <a:latin typeface="+mn-lt"/>
                        </a:rPr>
                        <a:t>, </a:t>
                      </a:r>
                      <a:r>
                        <a:rPr lang="ko-KR" altLang="en-US" sz="1200" dirty="0" err="1" smtClean="0">
                          <a:effectLst/>
                          <a:latin typeface="+mn-lt"/>
                        </a:rPr>
                        <a:t>인스타그램</a:t>
                      </a:r>
                      <a:r>
                        <a:rPr lang="ko-KR" altLang="en-US" sz="120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ko-KR" altLang="en-US" sz="1200" dirty="0" err="1" smtClean="0">
                          <a:effectLst/>
                          <a:latin typeface="+mn-lt"/>
                        </a:rPr>
                        <a:t>브랜딩까지</a:t>
                      </a:r>
                      <a:r>
                        <a:rPr lang="ko-KR" altLang="en-US" sz="1200" dirty="0" smtClean="0">
                          <a:effectLst/>
                          <a:latin typeface="+mn-lt"/>
                        </a:rPr>
                        <a:t> 이어지는 마케팅의 전 과정을 주도적으로 이끄는 역량을 길렀습니다</a:t>
                      </a:r>
                      <a:r>
                        <a:rPr lang="en-US" altLang="ko-KR" sz="1200" dirty="0" smtClean="0">
                          <a:effectLst/>
                          <a:latin typeface="+mn-lt"/>
                        </a:rPr>
                        <a:t>.</a:t>
                      </a:r>
                      <a:endParaRPr lang="en-US" altLang="ko-KR" sz="1200" dirty="0">
                        <a:effectLst/>
                        <a:latin typeface="+mn-lt"/>
                      </a:endParaRPr>
                    </a:p>
                  </a:txBody>
                  <a:tcPr marL="48578" marR="48578" marT="13430" marB="13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785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1" kern="0" spc="0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48578" marR="48578" marT="13430" marB="13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ko-KR" sz="1200" dirty="0" smtClean="0"/>
                    </a:p>
                  </a:txBody>
                  <a:tcPr marL="48578" marR="48578" marT="13430" marB="13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2027" y="257479"/>
            <a:ext cx="81752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b="1" dirty="0">
                <a:latin typeface="+mn-ea"/>
              </a:rPr>
              <a:t>키워드 별 </a:t>
            </a:r>
            <a:r>
              <a:rPr lang="en-US" altLang="ko-KR" sz="1600" b="1" dirty="0">
                <a:latin typeface="+mn-ea"/>
              </a:rPr>
              <a:t> </a:t>
            </a:r>
            <a:r>
              <a:rPr lang="ko-KR" altLang="en-US" sz="1600" b="1" dirty="0">
                <a:latin typeface="+mn-ea"/>
              </a:rPr>
              <a:t>경험 정리 </a:t>
            </a:r>
            <a:r>
              <a:rPr lang="en-US" altLang="ko-KR" sz="1600" b="1" dirty="0">
                <a:latin typeface="+mn-ea"/>
              </a:rPr>
              <a:t>(</a:t>
            </a:r>
            <a:r>
              <a:rPr lang="ko-KR" altLang="en-US" sz="1600" b="1" dirty="0" err="1">
                <a:latin typeface="+mn-ea"/>
              </a:rPr>
              <a:t>현재키워드는</a:t>
            </a:r>
            <a:r>
              <a:rPr lang="ko-KR" altLang="en-US" sz="1600" b="1" dirty="0">
                <a:latin typeface="+mn-ea"/>
              </a:rPr>
              <a:t> 예시임</a:t>
            </a:r>
            <a:r>
              <a:rPr lang="en-US" altLang="ko-KR" sz="1600" b="1" dirty="0">
                <a:latin typeface="+mn-ea"/>
              </a:rPr>
              <a:t>/</a:t>
            </a:r>
            <a:r>
              <a:rPr lang="ko-KR" altLang="en-US" sz="1600" b="1" dirty="0">
                <a:latin typeface="+mn-ea"/>
              </a:rPr>
              <a:t>본인의 경험에 따른 키워드 재설정할 것</a:t>
            </a:r>
            <a:r>
              <a:rPr lang="en-US" altLang="ko-KR" sz="1600" b="1" dirty="0">
                <a:latin typeface="+mn-ea"/>
              </a:rPr>
              <a:t>)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en-US" altLang="ko-KR" sz="1600" b="1" dirty="0">
                <a:latin typeface="+mn-ea"/>
              </a:rPr>
              <a:t> </a:t>
            </a:r>
            <a:endParaRPr lang="ko-KR" altLang="en-US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15303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887344"/>
              </p:ext>
            </p:extLst>
          </p:nvPr>
        </p:nvGraphicFramePr>
        <p:xfrm>
          <a:off x="5112432" y="1446667"/>
          <a:ext cx="6001883" cy="361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411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96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상황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EF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과정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(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주로 </a:t>
                      </a:r>
                      <a:r>
                        <a:rPr lang="ko-KR" altLang="en-US" sz="1200" b="1" baseline="0" dirty="0">
                          <a:solidFill>
                            <a:schemeClr val="tx1"/>
                          </a:solidFill>
                        </a:rPr>
                        <a:t> 무엇을 어떻게 했는가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</a:rPr>
                        <a:t>) 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EF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결과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성과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E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843038"/>
              </p:ext>
            </p:extLst>
          </p:nvPr>
        </p:nvGraphicFramePr>
        <p:xfrm>
          <a:off x="5119688" y="5938838"/>
          <a:ext cx="6001883" cy="145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411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0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교육명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EF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내용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E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4684" y="973851"/>
            <a:ext cx="432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b="1" dirty="0">
                <a:latin typeface="+mn-ea"/>
              </a:rPr>
              <a:t>교외 활동 </a:t>
            </a:r>
            <a:r>
              <a:rPr lang="en-US" altLang="ko-KR" sz="1600" b="1" dirty="0">
                <a:latin typeface="+mn-ea"/>
              </a:rPr>
              <a:t>( </a:t>
            </a:r>
            <a:r>
              <a:rPr lang="ko-KR" altLang="en-US" sz="1600" b="1" dirty="0">
                <a:latin typeface="+mn-ea"/>
              </a:rPr>
              <a:t>아르바이트</a:t>
            </a:r>
            <a:r>
              <a:rPr lang="en-US" altLang="ko-KR" sz="1600" b="1" dirty="0">
                <a:latin typeface="+mn-ea"/>
              </a:rPr>
              <a:t>,</a:t>
            </a:r>
            <a:r>
              <a:rPr lang="ko-KR" altLang="en-US" sz="1600" b="1" dirty="0">
                <a:latin typeface="+mn-ea"/>
              </a:rPr>
              <a:t> 실습</a:t>
            </a:r>
            <a:r>
              <a:rPr lang="en-US" altLang="ko-KR" sz="1600" b="1" dirty="0">
                <a:latin typeface="+mn-ea"/>
              </a:rPr>
              <a:t>,</a:t>
            </a:r>
            <a:r>
              <a:rPr lang="ko-KR" altLang="en-US" sz="1600" b="1" dirty="0">
                <a:latin typeface="+mn-ea"/>
              </a:rPr>
              <a:t> 직장 체험 등 </a:t>
            </a:r>
            <a:r>
              <a:rPr lang="en-US" altLang="ko-KR" sz="1600" b="1" dirty="0">
                <a:latin typeface="+mn-ea"/>
              </a:rPr>
              <a:t>) </a:t>
            </a:r>
            <a:endParaRPr lang="ko-KR" altLang="en-US" sz="1600" b="1" dirty="0">
              <a:latin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46456" y="5306366"/>
            <a:ext cx="432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b="1" dirty="0">
                <a:latin typeface="+mn-ea"/>
              </a:rPr>
              <a:t>교외 활동 </a:t>
            </a:r>
            <a:r>
              <a:rPr lang="en-US" altLang="ko-KR" sz="1600" b="1" dirty="0">
                <a:latin typeface="+mn-ea"/>
              </a:rPr>
              <a:t>(</a:t>
            </a:r>
            <a:r>
              <a:rPr lang="ko-KR" altLang="en-US" sz="1600" b="1" dirty="0">
                <a:latin typeface="+mn-ea"/>
              </a:rPr>
              <a:t>교육 수료 및 세미나 참여 </a:t>
            </a:r>
            <a:r>
              <a:rPr lang="en-US" altLang="ko-KR" sz="1600" b="1" dirty="0">
                <a:latin typeface="+mn-ea"/>
              </a:rPr>
              <a:t>) </a:t>
            </a:r>
            <a:endParaRPr lang="ko-KR" altLang="en-US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50315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363161"/>
              </p:ext>
            </p:extLst>
          </p:nvPr>
        </p:nvGraphicFramePr>
        <p:xfrm>
          <a:off x="5024684" y="1461810"/>
          <a:ext cx="6234964" cy="68742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79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66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889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희망 직무 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: </a:t>
                      </a:r>
                      <a:endParaRPr lang="ko-KR" altLang="en-US" sz="1200" b="1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EFD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31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필요 지식 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(K)</a:t>
                      </a:r>
                      <a:endParaRPr lang="ko-KR" altLang="en-US" sz="1200" b="1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현재 갖추고 있는 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갖춰야</a:t>
                      </a:r>
                      <a:r>
                        <a:rPr lang="ko-KR" altLang="en-US" sz="12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하는 점 </a:t>
                      </a:r>
                      <a:r>
                        <a:rPr lang="en-US" altLang="ko-KR" sz="12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앞으로 노력</a:t>
                      </a:r>
                      <a:r>
                        <a:rPr lang="en-US" altLang="ko-KR" sz="12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17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kern="1200" baseline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고객 요구조사 방법</a:t>
                      </a:r>
                      <a:endParaRPr lang="en-US" altLang="ko-KR" sz="1200" kern="1200" baseline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kern="1200" baseline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마케팅 전략 기초 지식</a:t>
                      </a:r>
                      <a:endParaRPr lang="en-US" altLang="ko-KR" sz="1200" kern="1200" baseline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kern="1200" baseline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아이디어 수집 채널 지식</a:t>
                      </a:r>
                      <a:endParaRPr lang="en-US" altLang="ko-KR" sz="1200" kern="1200" baseline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kern="1200" baseline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신규 아이템 및 트렌드 관심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latinLnBrk="1"/>
                      <a:endParaRPr lang="ko-KR" altLang="en-US" sz="12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시장조사 방법론</a:t>
                      </a:r>
                      <a:endParaRPr lang="en-US" altLang="ko-KR" sz="1200" kern="120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데이터 마케팅 지식</a:t>
                      </a:r>
                      <a:endParaRPr lang="en-US" altLang="ko-KR" sz="1200" kern="120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사업 타당성 분석 지식</a:t>
                      </a:r>
                      <a:endParaRPr lang="en-US" altLang="ko-KR" sz="1200" kern="120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소비자 행동 심리 지식</a:t>
                      </a:r>
                      <a:endParaRPr lang="en-US" altLang="ko-KR" sz="1200" kern="120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33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필요 기술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(S)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고객 조사 기술</a:t>
                      </a:r>
                      <a:endParaRPr lang="en-US" altLang="ko-KR" sz="1200" kern="1200" baseline="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인터뷰 기술</a:t>
                      </a:r>
                      <a:endParaRPr lang="en-US" altLang="ko-KR" sz="1200" kern="1200" baseline="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시장 현황 분석 기술</a:t>
                      </a:r>
                      <a:endParaRPr lang="en-US" altLang="ko-KR" sz="1200" kern="1200" baseline="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아이디어 우선순위 선정 기술</a:t>
                      </a:r>
                      <a:endParaRPr lang="en-US" altLang="ko-KR" sz="1200" kern="1200" baseline="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콘텐츠 기획 기술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데이터 분석 기술</a:t>
                      </a:r>
                      <a:endParaRPr lang="en-US" altLang="ko-KR" sz="1200" kern="120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A/B</a:t>
                      </a: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테스트 기술</a:t>
                      </a:r>
                      <a:endParaRPr lang="en-US" altLang="ko-KR" sz="1200" kern="120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고객 인터뷰 설계 기술</a:t>
                      </a:r>
                      <a:endParaRPr lang="en-US" altLang="ko-KR" sz="1200" kern="120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성과 측정 기술</a:t>
                      </a:r>
                      <a:endParaRPr lang="en-US" altLang="ko-KR" sz="1200" kern="120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광고 운영 기술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933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직무 수행 태도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(A)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적극적인 학습 태도</a:t>
                      </a:r>
                      <a:endParaRPr lang="en-US" altLang="ko-KR" sz="1200" kern="1200" baseline="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개선 의지</a:t>
                      </a:r>
                      <a:endParaRPr lang="en-US" altLang="ko-KR" sz="1200" kern="1200" baseline="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새로운 트렌드 수용 자세</a:t>
                      </a:r>
                      <a:endParaRPr lang="en-US" altLang="ko-KR" sz="1200" kern="1200" baseline="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창의적 사고</a:t>
                      </a:r>
                      <a:endParaRPr lang="en-US" altLang="ko-KR" sz="1200" kern="1200" baseline="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실행력</a:t>
                      </a:r>
                      <a:endParaRPr lang="en-US" altLang="ko-KR" sz="1200" kern="1200" baseline="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데이터 기반 사고</a:t>
                      </a:r>
                      <a:endParaRPr lang="en-US" altLang="ko-KR" sz="1200" kern="120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장기 프로젝트 지속력</a:t>
                      </a:r>
                      <a:endParaRPr lang="en-US" altLang="ko-KR" sz="1200" kern="120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실패 실험 수용 태도</a:t>
                      </a:r>
                      <a:endParaRPr lang="en-US" altLang="ko-KR" sz="1200" kern="120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비즈니스 관점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933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필요 자격 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933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직업 기초 능력 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17"/>
          <p:cNvSpPr txBox="1">
            <a:spLocks noChangeArrowheads="1"/>
          </p:cNvSpPr>
          <p:nvPr/>
        </p:nvSpPr>
        <p:spPr bwMode="auto">
          <a:xfrm>
            <a:off x="4743450" y="406400"/>
            <a:ext cx="484759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kumimoji="0" lang="en-US" altLang="ko-KR" sz="16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2.</a:t>
            </a:r>
            <a:r>
              <a:rPr kumimoji="0" lang="ko-KR" altLang="en-US" sz="16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직무이해 및 기업 분석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08569" y="741622"/>
            <a:ext cx="432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b="1" dirty="0">
                <a:latin typeface="+mn-ea"/>
              </a:rPr>
              <a:t>직무 준비도 분석   </a:t>
            </a:r>
          </a:p>
        </p:txBody>
      </p:sp>
    </p:spTree>
    <p:extLst>
      <p:ext uri="{BB962C8B-B14F-4D97-AF65-F5344CB8AC3E}">
        <p14:creationId xmlns:p14="http://schemas.microsoft.com/office/powerpoint/2010/main" val="3432273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8174193"/>
              </p:ext>
            </p:extLst>
          </p:nvPr>
        </p:nvGraphicFramePr>
        <p:xfrm>
          <a:off x="603115" y="1190172"/>
          <a:ext cx="15194604" cy="74761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520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42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64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기업 분석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EF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내용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E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2093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기업명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200" b="1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ABMLab</a:t>
                      </a:r>
                      <a:r>
                        <a:rPr lang="en-US" altLang="ko-KR" sz="12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에이비엠렙</a:t>
                      </a:r>
                      <a:r>
                        <a:rPr lang="en-US" altLang="ko-KR" sz="12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algn="l" defTabSz="914400" rtl="0" eaLnBrk="1" latinLnBrk="1" hangingPunct="1"/>
                      <a:r>
                        <a:rPr lang="ko-KR" altLang="en-US" sz="12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홈페이지 </a:t>
                      </a:r>
                      <a:r>
                        <a:rPr lang="en-US" altLang="ko-KR" sz="12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https://abmlab.co.kr/</a:t>
                      </a: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2084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사업 영역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 err="1" smtClean="0">
                          <a:latin typeface="+mn-ea"/>
                          <a:ea typeface="+mn-ea"/>
                        </a:rPr>
                        <a:t>에이비엠랩은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1" dirty="0" smtClean="0">
                          <a:latin typeface="+mn-ea"/>
                          <a:ea typeface="+mn-ea"/>
                        </a:rPr>
                        <a:t>국내 대학생 타깃 마케팅 </a:t>
                      </a:r>
                      <a:r>
                        <a:rPr lang="ko-KR" altLang="en-US" sz="1200" b="1" dirty="0" err="1" smtClean="0">
                          <a:latin typeface="+mn-ea"/>
                          <a:ea typeface="+mn-ea"/>
                        </a:rPr>
                        <a:t>플랫폼</a:t>
                      </a:r>
                      <a:r>
                        <a:rPr lang="ko-KR" altLang="en-US" sz="1200" dirty="0" err="1" smtClean="0">
                          <a:latin typeface="+mn-ea"/>
                          <a:ea typeface="+mn-ea"/>
                        </a:rPr>
                        <a:t>이자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b="1" dirty="0" smtClean="0"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1200" b="1" dirty="0" smtClean="0">
                          <a:latin typeface="+mn-ea"/>
                          <a:ea typeface="+mn-ea"/>
                        </a:rPr>
                        <a:t>기반 데이터 솔루션 기업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입니다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r>
                        <a:rPr lang="en-US" altLang="ko-KR" sz="1200" b="1" dirty="0" smtClean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b="1" dirty="0" smtClean="0">
                          <a:latin typeface="+mn-ea"/>
                          <a:ea typeface="+mn-ea"/>
                        </a:rPr>
                        <a:t>대학생 </a:t>
                      </a:r>
                      <a:r>
                        <a:rPr lang="ko-KR" altLang="en-US" sz="1200" b="1" dirty="0" err="1" smtClean="0">
                          <a:latin typeface="+mn-ea"/>
                          <a:ea typeface="+mn-ea"/>
                        </a:rPr>
                        <a:t>초개인화</a:t>
                      </a:r>
                      <a:r>
                        <a:rPr lang="ko-KR" altLang="en-US" sz="1200" b="1" dirty="0" smtClean="0">
                          <a:latin typeface="+mn-ea"/>
                          <a:ea typeface="+mn-ea"/>
                        </a:rPr>
                        <a:t> 마케팅 </a:t>
                      </a:r>
                      <a:r>
                        <a:rPr lang="en-US" altLang="ko-KR" sz="1200" b="1" dirty="0" smtClean="0">
                          <a:latin typeface="+mn-ea"/>
                          <a:ea typeface="+mn-ea"/>
                        </a:rPr>
                        <a:t>&amp; </a:t>
                      </a:r>
                      <a:r>
                        <a:rPr lang="ko-KR" altLang="en-US" sz="1200" b="1" dirty="0" smtClean="0">
                          <a:latin typeface="+mn-ea"/>
                          <a:ea typeface="+mn-ea"/>
                        </a:rPr>
                        <a:t>플랫폼 운영</a:t>
                      </a:r>
                      <a:r>
                        <a:rPr lang="en-US" altLang="ko-KR" sz="1200" b="1" dirty="0" smtClean="0">
                          <a:latin typeface="+mn-ea"/>
                          <a:ea typeface="+mn-ea"/>
                        </a:rPr>
                        <a:t>: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 대학생 전용 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기반 공유 캘린더 서비스 </a:t>
                      </a:r>
                      <a:r>
                        <a:rPr lang="en-US" altLang="ko-KR" sz="1200" b="1" dirty="0" smtClean="0">
                          <a:latin typeface="+mn-ea"/>
                          <a:ea typeface="+mn-ea"/>
                        </a:rPr>
                        <a:t>'</a:t>
                      </a:r>
                      <a:r>
                        <a:rPr lang="ko-KR" altLang="en-US" sz="1200" b="1" dirty="0" err="1" smtClean="0">
                          <a:latin typeface="+mn-ea"/>
                          <a:ea typeface="+mn-ea"/>
                        </a:rPr>
                        <a:t>캘박</a:t>
                      </a:r>
                      <a:r>
                        <a:rPr lang="en-US" altLang="ko-KR" sz="1200" b="1" dirty="0" smtClean="0">
                          <a:latin typeface="+mn-ea"/>
                          <a:ea typeface="+mn-ea"/>
                        </a:rPr>
                        <a:t>(CALVAK)'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대학생 프로모션 플랫폼 </a:t>
                      </a:r>
                      <a:r>
                        <a:rPr lang="en-US" altLang="ko-KR" sz="1200" b="1" dirty="0" smtClean="0">
                          <a:latin typeface="+mn-ea"/>
                          <a:ea typeface="+mn-ea"/>
                        </a:rPr>
                        <a:t>'</a:t>
                      </a:r>
                      <a:r>
                        <a:rPr lang="ko-KR" altLang="en-US" sz="1200" b="1" dirty="0" err="1" smtClean="0">
                          <a:latin typeface="+mn-ea"/>
                          <a:ea typeface="+mn-ea"/>
                        </a:rPr>
                        <a:t>엔퍼센트</a:t>
                      </a:r>
                      <a:r>
                        <a:rPr lang="en-US" altLang="ko-KR" sz="1200" b="1" dirty="0" smtClean="0">
                          <a:latin typeface="+mn-ea"/>
                          <a:ea typeface="+mn-ea"/>
                        </a:rPr>
                        <a:t>'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 등을 직접 운영합니다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이를 기반으로 대학생 서포터즈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프로모션 대행 등의 마케팅 사업을 전개합니다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r>
                        <a:rPr lang="en-US" altLang="ko-KR" sz="1200" b="1" dirty="0" smtClean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b="1" dirty="0" smtClean="0">
                          <a:latin typeface="+mn-ea"/>
                          <a:ea typeface="+mn-ea"/>
                        </a:rPr>
                        <a:t>소비 데이터 수집 및 </a:t>
                      </a:r>
                      <a:r>
                        <a:rPr lang="en-US" altLang="ko-KR" sz="1200" b="1" dirty="0" smtClean="0"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1200" b="1" dirty="0" smtClean="0">
                          <a:latin typeface="+mn-ea"/>
                          <a:ea typeface="+mn-ea"/>
                        </a:rPr>
                        <a:t>분석</a:t>
                      </a:r>
                      <a:r>
                        <a:rPr lang="en-US" altLang="ko-KR" sz="1200" b="1" dirty="0" smtClean="0">
                          <a:latin typeface="+mn-ea"/>
                          <a:ea typeface="+mn-ea"/>
                        </a:rPr>
                        <a:t>: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 대학생들이 실질적으로 소비하는 데이터를 수집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가공하여 대기업 및 제약회사 등에 솔루션 형태로 제공합니다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r>
                        <a:rPr lang="en-US" altLang="ko-KR" sz="1200" b="1" dirty="0" smtClean="0">
                          <a:latin typeface="+mn-ea"/>
                          <a:ea typeface="+mn-ea"/>
                        </a:rPr>
                        <a:t>- IT </a:t>
                      </a:r>
                      <a:r>
                        <a:rPr lang="ko-KR" altLang="en-US" sz="1200" b="1" dirty="0" smtClean="0">
                          <a:latin typeface="+mn-ea"/>
                          <a:ea typeface="+mn-ea"/>
                        </a:rPr>
                        <a:t>솔루션 및 컨설팅</a:t>
                      </a:r>
                      <a:r>
                        <a:rPr lang="en-US" altLang="ko-KR" sz="1200" b="1" dirty="0" smtClean="0">
                          <a:latin typeface="+mn-ea"/>
                          <a:ea typeface="+mn-ea"/>
                        </a:rPr>
                        <a:t>: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 대학 및 일반 기업의 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UI/UX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디자인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웹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앱 개발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정부지원사업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데이터바우처 등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공급 비즈니스를 함께 병행하고 있습니다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.</a:t>
                      </a:r>
                      <a:endParaRPr lang="en-US" altLang="ko-KR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0314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인재상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b="1" dirty="0" smtClean="0">
                          <a:latin typeface="+mn-ea"/>
                          <a:ea typeface="+mn-ea"/>
                        </a:rPr>
                        <a:t>트렌드 </a:t>
                      </a:r>
                      <a:r>
                        <a:rPr lang="ko-KR" altLang="en-US" sz="1200" b="1" dirty="0" err="1" smtClean="0">
                          <a:latin typeface="+mn-ea"/>
                          <a:ea typeface="+mn-ea"/>
                        </a:rPr>
                        <a:t>세터이자</a:t>
                      </a:r>
                      <a:r>
                        <a:rPr lang="ko-KR" altLang="en-US" sz="1200" b="1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b="1" dirty="0" smtClean="0">
                          <a:latin typeface="+mn-ea"/>
                          <a:ea typeface="+mn-ea"/>
                        </a:rPr>
                        <a:t>'</a:t>
                      </a:r>
                      <a:r>
                        <a:rPr lang="ko-KR" altLang="en-US" sz="1200" b="1" dirty="0" smtClean="0">
                          <a:latin typeface="+mn-ea"/>
                          <a:ea typeface="+mn-ea"/>
                        </a:rPr>
                        <a:t>대학생 문화</a:t>
                      </a:r>
                      <a:r>
                        <a:rPr lang="en-US" altLang="ko-KR" sz="1200" b="1" dirty="0" smtClean="0">
                          <a:latin typeface="+mn-ea"/>
                          <a:ea typeface="+mn-ea"/>
                        </a:rPr>
                        <a:t>'</a:t>
                      </a:r>
                      <a:r>
                        <a:rPr lang="ko-KR" altLang="en-US" sz="1200" b="1" dirty="0" smtClean="0">
                          <a:latin typeface="+mn-ea"/>
                          <a:ea typeface="+mn-ea"/>
                        </a:rPr>
                        <a:t>의 이해자</a:t>
                      </a:r>
                      <a:r>
                        <a:rPr lang="en-US" altLang="ko-KR" sz="1200" b="1" dirty="0" smtClean="0">
                          <a:latin typeface="+mn-ea"/>
                          <a:ea typeface="+mn-ea"/>
                        </a:rPr>
                        <a:t>: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 회사의 킬러 콘텐츠와 플랫폼 타깃이 대학생 및 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대 초반에 집중되어 있어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, Z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세대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200" dirty="0" err="1" smtClean="0">
                          <a:latin typeface="+mn-ea"/>
                          <a:ea typeface="+mn-ea"/>
                        </a:rPr>
                        <a:t>알파세대의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 소비 트렌드와 소셜미디어를 누구보다 빠르게 캐치하는 인재를 요합니다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r>
                        <a:rPr lang="ko-KR" altLang="en-US" sz="1200" b="1" dirty="0" smtClean="0">
                          <a:latin typeface="+mn-ea"/>
                          <a:ea typeface="+mn-ea"/>
                        </a:rPr>
                        <a:t>데이터 </a:t>
                      </a:r>
                      <a:r>
                        <a:rPr lang="ko-KR" altLang="en-US" sz="1200" b="1" dirty="0" err="1" smtClean="0">
                          <a:latin typeface="+mn-ea"/>
                          <a:ea typeface="+mn-ea"/>
                        </a:rPr>
                        <a:t>리터러시</a:t>
                      </a:r>
                      <a:r>
                        <a:rPr lang="en-US" altLang="ko-KR" sz="1200" b="1" dirty="0" smtClean="0">
                          <a:latin typeface="+mn-ea"/>
                          <a:ea typeface="+mn-ea"/>
                        </a:rPr>
                        <a:t>(Data Literacy)</a:t>
                      </a:r>
                      <a:r>
                        <a:rPr lang="ko-KR" altLang="en-US" sz="1200" b="1" dirty="0" smtClean="0">
                          <a:latin typeface="+mn-ea"/>
                          <a:ea typeface="+mn-ea"/>
                        </a:rPr>
                        <a:t>를 갖춘 </a:t>
                      </a:r>
                      <a:r>
                        <a:rPr lang="ko-KR" altLang="en-US" sz="1200" b="1" dirty="0" err="1" smtClean="0">
                          <a:latin typeface="+mn-ea"/>
                          <a:ea typeface="+mn-ea"/>
                        </a:rPr>
                        <a:t>마케터</a:t>
                      </a:r>
                      <a:r>
                        <a:rPr lang="en-US" altLang="ko-KR" sz="1200" b="1" dirty="0" smtClean="0">
                          <a:latin typeface="+mn-ea"/>
                          <a:ea typeface="+mn-ea"/>
                        </a:rPr>
                        <a:t>: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 이 회사는 단순 감성 마케팅이 아니라 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'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데이터 분석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'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을 비즈니스의 무기로 삼습니다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마케팅 성과를 숫자로 증명하고 데이터 기반으로 타깃을 좁혀 나갈 수 있는 논리적 사고가 필수적입니다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r>
                        <a:rPr lang="ko-KR" altLang="en-US" sz="1200" b="1" dirty="0" smtClean="0">
                          <a:latin typeface="+mn-ea"/>
                          <a:ea typeface="+mn-ea"/>
                        </a:rPr>
                        <a:t>기술 </a:t>
                      </a:r>
                      <a:r>
                        <a:rPr lang="ko-KR" altLang="en-US" sz="1200" b="1" dirty="0" err="1" smtClean="0">
                          <a:latin typeface="+mn-ea"/>
                          <a:ea typeface="+mn-ea"/>
                        </a:rPr>
                        <a:t>융합형</a:t>
                      </a:r>
                      <a:r>
                        <a:rPr lang="ko-KR" altLang="en-US" sz="1200" b="1" dirty="0" smtClean="0">
                          <a:latin typeface="+mn-ea"/>
                          <a:ea typeface="+mn-ea"/>
                        </a:rPr>
                        <a:t> 인재</a:t>
                      </a:r>
                      <a:r>
                        <a:rPr lang="en-US" altLang="ko-KR" sz="1200" b="1" dirty="0" smtClean="0">
                          <a:latin typeface="+mn-ea"/>
                          <a:ea typeface="+mn-ea"/>
                        </a:rPr>
                        <a:t>: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솔루션과 가공 데이터를 다루는 </a:t>
                      </a:r>
                      <a:r>
                        <a:rPr lang="ko-KR" altLang="en-US" sz="1200" dirty="0" err="1" smtClean="0">
                          <a:latin typeface="+mn-ea"/>
                          <a:ea typeface="+mn-ea"/>
                        </a:rPr>
                        <a:t>스타트업이므로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기술적 인프라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(AI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툴 활용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플랫폼 비즈니스 구조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에 대한 거부감이 없고 변화에 빠르게 적응하는 인재를 선호합니다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.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514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최근 동향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최근 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1~2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년 사이 대규모 투자 유치와 대기업 파트너십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정부 인증을 휩쓸며 매우 공격적으로 </a:t>
                      </a:r>
                      <a:r>
                        <a:rPr lang="ko-KR" altLang="en-US" sz="1200" dirty="0" err="1" smtClean="0">
                          <a:latin typeface="+mn-ea"/>
                          <a:ea typeface="+mn-ea"/>
                        </a:rPr>
                        <a:t>스케일업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규모 확장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을 하고 있습니다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200" dirty="0" err="1" smtClean="0">
                          <a:latin typeface="+mn-ea"/>
                          <a:ea typeface="+mn-ea"/>
                        </a:rPr>
                        <a:t>마케터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 면접 시 이 부분을 언급하면 깊은 인상을 줄 수 있습니다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r>
                        <a:rPr lang="ko-KR" altLang="en-US" sz="1200" b="1" dirty="0" err="1" smtClean="0">
                          <a:latin typeface="+mn-ea"/>
                          <a:ea typeface="+mn-ea"/>
                        </a:rPr>
                        <a:t>딥테크</a:t>
                      </a:r>
                      <a:r>
                        <a:rPr lang="ko-KR" altLang="en-US" sz="1200" b="1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1" dirty="0" err="1" smtClean="0">
                          <a:latin typeface="+mn-ea"/>
                          <a:ea typeface="+mn-ea"/>
                        </a:rPr>
                        <a:t>팁스</a:t>
                      </a:r>
                      <a:r>
                        <a:rPr lang="en-US" altLang="ko-KR" sz="1200" b="1" dirty="0" smtClean="0">
                          <a:latin typeface="+mn-ea"/>
                          <a:ea typeface="+mn-ea"/>
                        </a:rPr>
                        <a:t>(Deep-tech TIPS) </a:t>
                      </a:r>
                      <a:r>
                        <a:rPr lang="ko-KR" altLang="en-US" sz="1200" b="1" dirty="0" smtClean="0">
                          <a:latin typeface="+mn-ea"/>
                          <a:ea typeface="+mn-ea"/>
                        </a:rPr>
                        <a:t>선정 </a:t>
                      </a:r>
                      <a:r>
                        <a:rPr lang="en-US" altLang="ko-KR" sz="1200" b="1" dirty="0" smtClean="0">
                          <a:latin typeface="+mn-ea"/>
                          <a:ea typeface="+mn-ea"/>
                        </a:rPr>
                        <a:t>(2026</a:t>
                      </a:r>
                      <a:r>
                        <a:rPr lang="ko-KR" altLang="en-US" sz="1200" b="1" dirty="0" smtClean="0"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200" b="1" dirty="0" smtClean="0"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200" b="1" dirty="0" smtClean="0"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1200" b="1" dirty="0" smtClean="0">
                          <a:latin typeface="+mn-ea"/>
                          <a:ea typeface="+mn-ea"/>
                        </a:rPr>
                        <a:t>):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 중소벤처기업부의 우수 유망 기술 </a:t>
                      </a:r>
                      <a:r>
                        <a:rPr lang="ko-KR" altLang="en-US" sz="1200" dirty="0" err="1" smtClean="0">
                          <a:latin typeface="+mn-ea"/>
                          <a:ea typeface="+mn-ea"/>
                        </a:rPr>
                        <a:t>창업팀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 지원 프로그램인 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'</a:t>
                      </a:r>
                      <a:r>
                        <a:rPr lang="ko-KR" altLang="en-US" sz="1200" dirty="0" err="1" smtClean="0">
                          <a:latin typeface="+mn-ea"/>
                          <a:ea typeface="+mn-ea"/>
                        </a:rPr>
                        <a:t>딥테크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dirty="0" err="1" smtClean="0">
                          <a:latin typeface="+mn-ea"/>
                          <a:ea typeface="+mn-ea"/>
                        </a:rPr>
                        <a:t>팁스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'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에 선정되어 차세대 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예측 데이터 솔루션 개발력을 </a:t>
                      </a:r>
                      <a:r>
                        <a:rPr lang="ko-KR" altLang="en-US" sz="1200" dirty="0" err="1" smtClean="0">
                          <a:latin typeface="+mn-ea"/>
                          <a:ea typeface="+mn-ea"/>
                        </a:rPr>
                        <a:t>공인받았습니다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r>
                        <a:rPr lang="ko-KR" altLang="en-US" sz="1200" b="1" dirty="0" smtClean="0">
                          <a:latin typeface="+mn-ea"/>
                          <a:ea typeface="+mn-ea"/>
                        </a:rPr>
                        <a:t>시리즈 </a:t>
                      </a:r>
                      <a:r>
                        <a:rPr lang="en-US" altLang="ko-KR" sz="1200" b="1" dirty="0" smtClean="0">
                          <a:latin typeface="+mn-ea"/>
                          <a:ea typeface="+mn-ea"/>
                        </a:rPr>
                        <a:t>A </a:t>
                      </a:r>
                      <a:r>
                        <a:rPr lang="ko-KR" altLang="en-US" sz="1200" b="1" dirty="0" err="1" smtClean="0">
                          <a:latin typeface="+mn-ea"/>
                          <a:ea typeface="+mn-ea"/>
                        </a:rPr>
                        <a:t>브릿지</a:t>
                      </a:r>
                      <a:r>
                        <a:rPr lang="ko-KR" altLang="en-US" sz="1200" b="1" dirty="0" smtClean="0">
                          <a:latin typeface="+mn-ea"/>
                          <a:ea typeface="+mn-ea"/>
                        </a:rPr>
                        <a:t> 투자 유치 완료 </a:t>
                      </a:r>
                      <a:r>
                        <a:rPr lang="en-US" altLang="ko-KR" sz="1200" b="1" dirty="0" smtClean="0">
                          <a:latin typeface="+mn-ea"/>
                          <a:ea typeface="+mn-ea"/>
                        </a:rPr>
                        <a:t>(2025</a:t>
                      </a:r>
                      <a:r>
                        <a:rPr lang="ko-KR" altLang="en-US" sz="1200" b="1" dirty="0" smtClean="0"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200" b="1" dirty="0" smtClean="0"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1200" b="1" dirty="0" smtClean="0"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1200" b="1" dirty="0" smtClean="0">
                          <a:latin typeface="+mn-ea"/>
                          <a:ea typeface="+mn-ea"/>
                        </a:rPr>
                        <a:t>):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 앞서 기업가치 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100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억 원 규모의 프리 시리즈 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A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투자를 유치한 데 이어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추가 </a:t>
                      </a:r>
                      <a:r>
                        <a:rPr lang="ko-KR" altLang="en-US" sz="1200" dirty="0" err="1" smtClean="0">
                          <a:latin typeface="+mn-ea"/>
                          <a:ea typeface="+mn-ea"/>
                        </a:rPr>
                        <a:t>브릿지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 투자까지 성공적으로 마쳐 자금력이 탄탄한 상태입니다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r>
                        <a:rPr lang="ko-KR" altLang="en-US" sz="1200" b="1" dirty="0" smtClean="0">
                          <a:latin typeface="+mn-ea"/>
                          <a:ea typeface="+mn-ea"/>
                        </a:rPr>
                        <a:t>대기업 및 대형 대행사와의 </a:t>
                      </a:r>
                      <a:r>
                        <a:rPr lang="en-US" altLang="ko-KR" sz="1200" b="1" dirty="0" err="1" smtClean="0">
                          <a:latin typeface="+mn-ea"/>
                          <a:ea typeface="+mn-ea"/>
                        </a:rPr>
                        <a:t>PoC</a:t>
                      </a:r>
                      <a:r>
                        <a:rPr lang="en-US" altLang="ko-KR" sz="1200" b="1" dirty="0" smtClean="0">
                          <a:latin typeface="+mn-ea"/>
                          <a:ea typeface="+mn-ea"/>
                        </a:rPr>
                        <a:t>/MOU </a:t>
                      </a:r>
                      <a:r>
                        <a:rPr lang="ko-KR" altLang="en-US" sz="1200" b="1" dirty="0" smtClean="0">
                          <a:latin typeface="+mn-ea"/>
                          <a:ea typeface="+mn-ea"/>
                        </a:rPr>
                        <a:t>연쇄 체결</a:t>
                      </a:r>
                      <a:r>
                        <a:rPr lang="en-US" altLang="ko-KR" sz="1200" b="1" dirty="0" smtClean="0">
                          <a:latin typeface="+mn-ea"/>
                          <a:ea typeface="+mn-ea"/>
                        </a:rPr>
                        <a:t>:</a:t>
                      </a:r>
                      <a:endParaRPr lang="ko-KR" altLang="en-US" sz="1200" dirty="0" smtClean="0">
                        <a:latin typeface="+mn-ea"/>
                        <a:ea typeface="+mn-ea"/>
                      </a:endParaRPr>
                    </a:p>
                    <a:p>
                      <a:pPr lvl="1"/>
                      <a:r>
                        <a:rPr lang="ko-KR" altLang="en-US" sz="1200" b="1" dirty="0" smtClean="0">
                          <a:latin typeface="+mn-ea"/>
                          <a:ea typeface="+mn-ea"/>
                        </a:rPr>
                        <a:t>마케팅</a:t>
                      </a:r>
                      <a:r>
                        <a:rPr lang="en-US" altLang="ko-KR" sz="1200" b="1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200" b="1" dirty="0" smtClean="0">
                          <a:latin typeface="+mn-ea"/>
                          <a:ea typeface="+mn-ea"/>
                        </a:rPr>
                        <a:t>광고</a:t>
                      </a:r>
                      <a:r>
                        <a:rPr lang="en-US" altLang="ko-KR" sz="1200" b="1" dirty="0" smtClean="0">
                          <a:latin typeface="+mn-ea"/>
                          <a:ea typeface="+mn-ea"/>
                        </a:rPr>
                        <a:t>: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 글로벌 광고대행사 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'</a:t>
                      </a:r>
                      <a:r>
                        <a:rPr lang="ko-KR" altLang="en-US" sz="1200" dirty="0" err="1" smtClean="0">
                          <a:latin typeface="+mn-ea"/>
                          <a:ea typeface="+mn-ea"/>
                        </a:rPr>
                        <a:t>하쿠호도제일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'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과 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MOU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체결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농심 반려동물 브랜드 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'</a:t>
                      </a:r>
                      <a:r>
                        <a:rPr lang="ko-KR" altLang="en-US" sz="1200" dirty="0" err="1" smtClean="0">
                          <a:latin typeface="+mn-ea"/>
                          <a:ea typeface="+mn-ea"/>
                        </a:rPr>
                        <a:t>반려다움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'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브랜드 마케팅 </a:t>
                      </a:r>
                      <a:r>
                        <a:rPr lang="en-US" altLang="ko-KR" sz="1200" dirty="0" err="1" smtClean="0">
                          <a:latin typeface="+mn-ea"/>
                          <a:ea typeface="+mn-ea"/>
                        </a:rPr>
                        <a:t>PoC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수행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vl="1"/>
                      <a:r>
                        <a:rPr lang="ko-KR" altLang="en-US" sz="1200" b="1" dirty="0" smtClean="0">
                          <a:latin typeface="+mn-ea"/>
                          <a:ea typeface="+mn-ea"/>
                        </a:rPr>
                        <a:t>데이터 제휴</a:t>
                      </a:r>
                      <a:r>
                        <a:rPr lang="en-US" altLang="ko-KR" sz="1200" b="1" dirty="0" smtClean="0">
                          <a:latin typeface="+mn-ea"/>
                          <a:ea typeface="+mn-ea"/>
                        </a:rPr>
                        <a:t>: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 경남제약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, BGF</a:t>
                      </a:r>
                      <a:r>
                        <a:rPr lang="ko-KR" altLang="en-US" sz="1200" dirty="0" err="1" smtClean="0">
                          <a:latin typeface="+mn-ea"/>
                          <a:ea typeface="+mn-ea"/>
                        </a:rPr>
                        <a:t>네트웍스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, CJ</a:t>
                      </a:r>
                      <a:r>
                        <a:rPr lang="ko-KR" altLang="en-US" sz="1200" dirty="0" err="1" smtClean="0">
                          <a:latin typeface="+mn-ea"/>
                          <a:ea typeface="+mn-ea"/>
                        </a:rPr>
                        <a:t>온스타일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 등과 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'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대학생 소비 데이터 분석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'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협업을 진행하며 기업 고객을 확보 중입니다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vl="1"/>
                      <a:r>
                        <a:rPr lang="ko-KR" altLang="en-US" sz="1200" b="1" dirty="0" smtClean="0">
                          <a:latin typeface="+mn-ea"/>
                          <a:ea typeface="+mn-ea"/>
                        </a:rPr>
                        <a:t>공공</a:t>
                      </a:r>
                      <a:r>
                        <a:rPr lang="en-US" altLang="ko-KR" sz="1200" b="1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200" b="1" dirty="0" smtClean="0">
                          <a:latin typeface="+mn-ea"/>
                          <a:ea typeface="+mn-ea"/>
                        </a:rPr>
                        <a:t>금융</a:t>
                      </a:r>
                      <a:r>
                        <a:rPr lang="en-US" altLang="ko-KR" sz="1200" b="1" dirty="0" smtClean="0">
                          <a:latin typeface="+mn-ea"/>
                          <a:ea typeface="+mn-ea"/>
                        </a:rPr>
                        <a:t>: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IBK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창공 혁신창업기업 선정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, NH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농협은행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(NH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오픈비즈니스허브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플랫폼 운영 효율화 </a:t>
                      </a:r>
                      <a:r>
                        <a:rPr lang="en-US" altLang="ko-KR" sz="1200" dirty="0" err="1" smtClean="0">
                          <a:latin typeface="+mn-ea"/>
                          <a:ea typeface="+mn-ea"/>
                        </a:rPr>
                        <a:t>PoC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추진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.</a:t>
                      </a:r>
                      <a:endParaRPr lang="en-US" altLang="ko-KR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908569" y="741622"/>
            <a:ext cx="432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b="1" dirty="0">
                <a:latin typeface="+mn-ea"/>
              </a:rPr>
              <a:t>기업 정보 탐색  </a:t>
            </a:r>
          </a:p>
        </p:txBody>
      </p:sp>
      <p:sp>
        <p:nvSpPr>
          <p:cNvPr id="4" name="TextBox 17"/>
          <p:cNvSpPr txBox="1">
            <a:spLocks noChangeArrowheads="1"/>
          </p:cNvSpPr>
          <p:nvPr/>
        </p:nvSpPr>
        <p:spPr bwMode="auto">
          <a:xfrm>
            <a:off x="4743450" y="406400"/>
            <a:ext cx="484759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kumimoji="0" lang="en-US" altLang="ko-KR" sz="1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2.</a:t>
            </a:r>
            <a:r>
              <a:rPr kumimoji="0" lang="ko-KR" altLang="en-US" sz="1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직무 이해 및 기업 분석  </a:t>
            </a:r>
          </a:p>
        </p:txBody>
      </p:sp>
    </p:spTree>
    <p:extLst>
      <p:ext uri="{BB962C8B-B14F-4D97-AF65-F5344CB8AC3E}">
        <p14:creationId xmlns:p14="http://schemas.microsoft.com/office/powerpoint/2010/main" val="1069641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1317120"/>
              </p:ext>
            </p:extLst>
          </p:nvPr>
        </p:nvGraphicFramePr>
        <p:xfrm>
          <a:off x="602901" y="1190171"/>
          <a:ext cx="14851464" cy="79127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65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864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64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기업 분석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EF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내용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E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2093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기업명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200" b="1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서울플래닝</a:t>
                      </a:r>
                      <a:endParaRPr lang="en-US" altLang="ko-KR" sz="12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1" hangingPunct="1"/>
                      <a:endParaRPr lang="en-US" altLang="ko-KR" sz="12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1200" b="1" dirty="0" smtClean="0"/>
                        <a:t>공식 홈페이지</a:t>
                      </a:r>
                      <a:r>
                        <a:rPr lang="en-US" altLang="ko-KR" sz="1200" b="1" dirty="0" smtClean="0"/>
                        <a:t>:</a:t>
                      </a:r>
                      <a:r>
                        <a:rPr lang="ko-KR" altLang="en-US" sz="1200" dirty="0" smtClean="0"/>
                        <a:t> </a:t>
                      </a:r>
                      <a:r>
                        <a:rPr lang="en-US" altLang="ko-KR" sz="1200" dirty="0" smtClean="0">
                          <a:hlinkClick r:id="rId2"/>
                        </a:rPr>
                        <a:t>https://www.seoulpn.com/</a:t>
                      </a:r>
                      <a:endParaRPr lang="ko-KR" altLang="en-US" sz="1200" dirty="0" smtClean="0"/>
                    </a:p>
                    <a:p>
                      <a:r>
                        <a:rPr lang="ko-KR" altLang="en-US" sz="1200" b="1" dirty="0" smtClean="0"/>
                        <a:t>소재지</a:t>
                      </a:r>
                      <a:r>
                        <a:rPr lang="en-US" altLang="ko-KR" sz="1200" b="1" dirty="0" smtClean="0"/>
                        <a:t>:</a:t>
                      </a:r>
                      <a:r>
                        <a:rPr lang="ko-KR" altLang="en-US" sz="1200" dirty="0" smtClean="0"/>
                        <a:t> 서울 강남구 </a:t>
                      </a:r>
                      <a:r>
                        <a:rPr lang="ko-KR" altLang="en-US" sz="1200" dirty="0" err="1" smtClean="0"/>
                        <a:t>학동로</a:t>
                      </a:r>
                      <a:r>
                        <a:rPr lang="en-US" altLang="ko-KR" sz="1200" dirty="0" smtClean="0"/>
                        <a:t>24</a:t>
                      </a:r>
                      <a:r>
                        <a:rPr lang="ko-KR" altLang="en-US" sz="1200" dirty="0" smtClean="0"/>
                        <a:t>길 </a:t>
                      </a:r>
                      <a:r>
                        <a:rPr lang="en-US" altLang="ko-KR" sz="1200" dirty="0" smtClean="0"/>
                        <a:t>11, 4</a:t>
                      </a:r>
                      <a:r>
                        <a:rPr lang="ko-KR" altLang="en-US" sz="1200" dirty="0" smtClean="0"/>
                        <a:t>층 </a:t>
                      </a:r>
                      <a:r>
                        <a:rPr lang="en-US" altLang="ko-KR" sz="1200" dirty="0" smtClean="0"/>
                        <a:t>(7</a:t>
                      </a:r>
                      <a:r>
                        <a:rPr lang="ko-KR" altLang="en-US" sz="1200" dirty="0" smtClean="0"/>
                        <a:t>호선 </a:t>
                      </a:r>
                      <a:r>
                        <a:rPr lang="ko-KR" altLang="en-US" sz="1200" dirty="0" err="1" smtClean="0"/>
                        <a:t>학동역</a:t>
                      </a:r>
                      <a:r>
                        <a:rPr lang="ko-KR" altLang="en-US" sz="1200" dirty="0" smtClean="0"/>
                        <a:t> 인근</a:t>
                      </a:r>
                      <a:r>
                        <a:rPr lang="en-US" altLang="ko-KR" sz="1200" dirty="0" smtClean="0"/>
                        <a:t>)</a:t>
                      </a:r>
                    </a:p>
                    <a:p>
                      <a:r>
                        <a:rPr lang="ko-KR" altLang="en-US" sz="1200" b="1" dirty="0" smtClean="0"/>
                        <a:t>대표자</a:t>
                      </a:r>
                      <a:r>
                        <a:rPr lang="en-US" altLang="ko-KR" sz="1200" b="1" dirty="0" smtClean="0"/>
                        <a:t>:</a:t>
                      </a:r>
                      <a:r>
                        <a:rPr lang="ko-KR" altLang="en-US" sz="1200" dirty="0" smtClean="0"/>
                        <a:t> 김근식</a:t>
                      </a:r>
                    </a:p>
                    <a:p>
                      <a:r>
                        <a:rPr lang="ko-KR" altLang="en-US" sz="1200" b="1" dirty="0" smtClean="0"/>
                        <a:t>설립일</a:t>
                      </a:r>
                      <a:r>
                        <a:rPr lang="en-US" altLang="ko-KR" sz="1200" b="1" dirty="0" smtClean="0"/>
                        <a:t>:</a:t>
                      </a:r>
                      <a:r>
                        <a:rPr lang="ko-KR" altLang="en-US" sz="1200" dirty="0" smtClean="0"/>
                        <a:t> </a:t>
                      </a:r>
                      <a:r>
                        <a:rPr lang="en-US" altLang="ko-KR" sz="1200" dirty="0" smtClean="0"/>
                        <a:t>2019</a:t>
                      </a:r>
                      <a:r>
                        <a:rPr lang="ko-KR" altLang="en-US" sz="1200" dirty="0" smtClean="0"/>
                        <a:t>년 </a:t>
                      </a:r>
                      <a:r>
                        <a:rPr lang="en-US" altLang="ko-KR" sz="1200" dirty="0" smtClean="0"/>
                        <a:t>6</a:t>
                      </a:r>
                      <a:r>
                        <a:rPr lang="ko-KR" altLang="en-US" sz="1200" dirty="0" smtClean="0"/>
                        <a:t>월 </a:t>
                      </a:r>
                      <a:r>
                        <a:rPr lang="en-US" altLang="ko-KR" sz="1200" dirty="0" smtClean="0"/>
                        <a:t>(</a:t>
                      </a:r>
                      <a:r>
                        <a:rPr lang="ko-KR" altLang="en-US" sz="1200" dirty="0" err="1" smtClean="0"/>
                        <a:t>라이징팝스</a:t>
                      </a:r>
                      <a:r>
                        <a:rPr lang="ko-KR" altLang="en-US" sz="1200" dirty="0" smtClean="0"/>
                        <a:t> 브랜드 활동 등을 포함한 총 </a:t>
                      </a:r>
                      <a:r>
                        <a:rPr lang="ko-KR" altLang="en-US" sz="1200" dirty="0" err="1" smtClean="0"/>
                        <a:t>업력은</a:t>
                      </a:r>
                      <a:r>
                        <a:rPr lang="ko-KR" altLang="en-US" sz="1200" dirty="0" smtClean="0"/>
                        <a:t> 약 </a:t>
                      </a:r>
                      <a:r>
                        <a:rPr lang="en-US" altLang="ko-KR" sz="1200" dirty="0" smtClean="0"/>
                        <a:t>8~11</a:t>
                      </a:r>
                      <a:r>
                        <a:rPr lang="ko-KR" altLang="en-US" sz="1200" dirty="0" smtClean="0"/>
                        <a:t>년 차로 분류됨</a:t>
                      </a:r>
                      <a:r>
                        <a:rPr lang="en-US" altLang="ko-KR" sz="1200" dirty="0" smtClean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2084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사업 영역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1" dirty="0" smtClean="0"/>
                        <a:t>- Media PR (</a:t>
                      </a:r>
                      <a:r>
                        <a:rPr lang="ko-KR" altLang="en-US" sz="1200" b="1" dirty="0" smtClean="0"/>
                        <a:t>언론 홍보</a:t>
                      </a:r>
                      <a:r>
                        <a:rPr lang="en-US" altLang="ko-KR" sz="1200" b="1" dirty="0" smtClean="0"/>
                        <a:t>):</a:t>
                      </a:r>
                      <a:r>
                        <a:rPr lang="ko-KR" altLang="en-US" sz="1200" dirty="0" smtClean="0"/>
                        <a:t> 스트레이트 보도자료 기획 및 배포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기획기사 피칭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기자간담회 운영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리스크 관리</a:t>
                      </a:r>
                      <a:r>
                        <a:rPr lang="en-US" altLang="ko-KR" sz="1200" dirty="0" smtClean="0"/>
                        <a:t>(</a:t>
                      </a:r>
                      <a:r>
                        <a:rPr lang="ko-KR" altLang="en-US" sz="1200" dirty="0" smtClean="0"/>
                        <a:t>부정 기사 대응</a:t>
                      </a:r>
                      <a:r>
                        <a:rPr lang="en-US" altLang="ko-KR" sz="1200" dirty="0" smtClean="0"/>
                        <a:t>).</a:t>
                      </a:r>
                    </a:p>
                    <a:p>
                      <a:r>
                        <a:rPr lang="en-US" altLang="ko-KR" sz="1200" b="1" dirty="0" smtClean="0"/>
                        <a:t>Digital PR:</a:t>
                      </a:r>
                      <a:r>
                        <a:rPr lang="ko-KR" altLang="en-US" sz="1200" dirty="0" smtClean="0"/>
                        <a:t> 블로그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err="1" smtClean="0"/>
                        <a:t>인스타그램</a:t>
                      </a:r>
                      <a:r>
                        <a:rPr lang="ko-KR" altLang="en-US" sz="1200" dirty="0" smtClean="0"/>
                        <a:t> 등 브랜드 </a:t>
                      </a:r>
                      <a:r>
                        <a:rPr lang="ko-KR" altLang="en-US" sz="1200" dirty="0" err="1" smtClean="0"/>
                        <a:t>소셜미디어</a:t>
                      </a:r>
                      <a:r>
                        <a:rPr lang="ko-KR" altLang="en-US" sz="1200" dirty="0" smtClean="0"/>
                        <a:t> 채널 운영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err="1" smtClean="0"/>
                        <a:t>유튜버</a:t>
                      </a:r>
                      <a:r>
                        <a:rPr lang="ko-KR" altLang="en-US" sz="1200" dirty="0" smtClean="0"/>
                        <a:t> 등 </a:t>
                      </a:r>
                      <a:r>
                        <a:rPr lang="ko-KR" altLang="en-US" sz="1200" dirty="0" err="1" smtClean="0"/>
                        <a:t>셀럽</a:t>
                      </a:r>
                      <a:r>
                        <a:rPr lang="en-US" altLang="ko-KR" sz="1200" dirty="0" smtClean="0"/>
                        <a:t>/</a:t>
                      </a:r>
                      <a:r>
                        <a:rPr lang="ko-KR" altLang="en-US" sz="1200" dirty="0" err="1" smtClean="0"/>
                        <a:t>인플루언서</a:t>
                      </a:r>
                      <a:r>
                        <a:rPr lang="ko-KR" altLang="en-US" sz="1200" dirty="0" smtClean="0"/>
                        <a:t> 마케팅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뉴스레터 기획 및 발송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온라인 커뮤니티 모니터링</a:t>
                      </a:r>
                      <a:r>
                        <a:rPr lang="en-US" altLang="ko-KR" sz="1200" dirty="0" smtClean="0"/>
                        <a:t>.</a:t>
                      </a:r>
                    </a:p>
                    <a:p>
                      <a:r>
                        <a:rPr lang="en-US" altLang="ko-KR" sz="1200" b="1" dirty="0" smtClean="0"/>
                        <a:t>-</a:t>
                      </a:r>
                      <a:r>
                        <a:rPr lang="en-US" altLang="ko-KR" sz="1200" b="1" baseline="0" dirty="0" smtClean="0"/>
                        <a:t> </a:t>
                      </a:r>
                      <a:r>
                        <a:rPr lang="ko-KR" altLang="en-US" sz="1200" b="1" dirty="0" smtClean="0"/>
                        <a:t>이벤트 </a:t>
                      </a:r>
                      <a:r>
                        <a:rPr lang="en-US" altLang="ko-KR" sz="1200" b="1" dirty="0" smtClean="0"/>
                        <a:t>&amp; </a:t>
                      </a:r>
                      <a:r>
                        <a:rPr lang="ko-KR" altLang="en-US" sz="1200" b="1" dirty="0" smtClean="0"/>
                        <a:t>프로모션</a:t>
                      </a:r>
                      <a:r>
                        <a:rPr lang="en-US" altLang="ko-KR" sz="1200" b="1" dirty="0" smtClean="0"/>
                        <a:t>:</a:t>
                      </a:r>
                      <a:r>
                        <a:rPr lang="ko-KR" altLang="en-US" sz="1200" dirty="0" smtClean="0"/>
                        <a:t> 컨퍼런스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세미나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워크숍 등 온</a:t>
                      </a:r>
                      <a:r>
                        <a:rPr lang="en-US" altLang="ko-KR" sz="1200" dirty="0" smtClean="0"/>
                        <a:t>·</a:t>
                      </a:r>
                      <a:r>
                        <a:rPr lang="ko-KR" altLang="en-US" sz="1200" dirty="0" smtClean="0"/>
                        <a:t>오프라인 행사 기획 및 운영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서포터즈</a:t>
                      </a:r>
                      <a:r>
                        <a:rPr lang="en-US" altLang="ko-KR" sz="1200" dirty="0" smtClean="0"/>
                        <a:t>/</a:t>
                      </a:r>
                      <a:r>
                        <a:rPr lang="ko-KR" altLang="en-US" sz="1200" dirty="0" smtClean="0"/>
                        <a:t>기자단</a:t>
                      </a:r>
                      <a:r>
                        <a:rPr lang="en-US" altLang="ko-KR" sz="1200" dirty="0" smtClean="0"/>
                        <a:t>/</a:t>
                      </a:r>
                      <a:r>
                        <a:rPr lang="ko-KR" altLang="en-US" sz="1200" dirty="0" err="1" smtClean="0"/>
                        <a:t>체험단</a:t>
                      </a:r>
                      <a:r>
                        <a:rPr lang="ko-KR" altLang="en-US" sz="1200" dirty="0" smtClean="0"/>
                        <a:t> 운영</a:t>
                      </a:r>
                      <a:r>
                        <a:rPr lang="en-US" altLang="ko-KR" sz="1200" dirty="0" smtClean="0"/>
                        <a:t>.</a:t>
                      </a:r>
                    </a:p>
                    <a:p>
                      <a:r>
                        <a:rPr lang="en-US" altLang="ko-KR" sz="1200" b="1" dirty="0" smtClean="0"/>
                        <a:t>- Design &amp; Video Content:</a:t>
                      </a:r>
                      <a:r>
                        <a:rPr lang="ko-KR" altLang="en-US" sz="1200" dirty="0" smtClean="0"/>
                        <a:t> </a:t>
                      </a:r>
                      <a:r>
                        <a:rPr lang="ko-KR" altLang="en-US" sz="1200" dirty="0" err="1" smtClean="0"/>
                        <a:t>카드뉴스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뉴스레터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err="1" smtClean="0"/>
                        <a:t>인포그래픽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상세페이지 제작 및 캐릭터</a:t>
                      </a:r>
                      <a:r>
                        <a:rPr lang="en-US" altLang="ko-KR" sz="1200" dirty="0" smtClean="0"/>
                        <a:t>(BI/CI) </a:t>
                      </a:r>
                      <a:r>
                        <a:rPr lang="ko-KR" altLang="en-US" sz="1200" dirty="0" smtClean="0"/>
                        <a:t>개발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err="1" smtClean="0"/>
                        <a:t>모션그래픽</a:t>
                      </a:r>
                      <a:r>
                        <a:rPr lang="ko-KR" altLang="en-US" sz="1200" dirty="0" smtClean="0"/>
                        <a:t> 및 인터뷰</a:t>
                      </a:r>
                      <a:r>
                        <a:rPr lang="en-US" altLang="ko-KR" sz="1200" dirty="0" smtClean="0"/>
                        <a:t>/</a:t>
                      </a:r>
                      <a:r>
                        <a:rPr lang="ko-KR" altLang="en-US" sz="1200" dirty="0" err="1" smtClean="0"/>
                        <a:t>웨비나</a:t>
                      </a:r>
                      <a:r>
                        <a:rPr lang="ko-KR" altLang="en-US" sz="1200" dirty="0" smtClean="0"/>
                        <a:t> 영상 제작</a:t>
                      </a:r>
                      <a:r>
                        <a:rPr lang="en-US" altLang="ko-KR" sz="1200" dirty="0" smtClean="0"/>
                        <a:t>.</a:t>
                      </a:r>
                    </a:p>
                    <a:p>
                      <a:r>
                        <a:rPr lang="en-US" altLang="ko-KR" sz="1200" b="1" dirty="0" smtClean="0"/>
                        <a:t>- IR / IPR (</a:t>
                      </a:r>
                      <a:r>
                        <a:rPr lang="ko-KR" altLang="en-US" sz="1200" b="1" dirty="0" smtClean="0"/>
                        <a:t>투자자 대상 마케팅</a:t>
                      </a:r>
                      <a:r>
                        <a:rPr lang="en-US" altLang="ko-KR" sz="1200" b="1" dirty="0" smtClean="0"/>
                        <a:t>):</a:t>
                      </a:r>
                      <a:r>
                        <a:rPr lang="ko-KR" altLang="en-US" sz="1200" dirty="0" smtClean="0"/>
                        <a:t> 최근 비중이 높아진 영역으로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고객사의 재무제표 분석을 바탕으로 한 제안서</a:t>
                      </a:r>
                      <a:r>
                        <a:rPr lang="en-US" altLang="ko-KR" sz="1200" dirty="0" smtClean="0"/>
                        <a:t>/</a:t>
                      </a:r>
                      <a:r>
                        <a:rPr lang="ko-KR" altLang="en-US" sz="1200" dirty="0" smtClean="0"/>
                        <a:t>기획서 작성 및 온라인 투자 유치 관련 콘텐츠 제작</a:t>
                      </a:r>
                      <a:r>
                        <a:rPr lang="en-US" altLang="ko-KR" sz="1200" dirty="0" smtClean="0"/>
                        <a:t>.</a:t>
                      </a:r>
                      <a:endParaRPr lang="en-US" altLang="ko-KR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0314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인재상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1" dirty="0" smtClean="0"/>
                        <a:t>- </a:t>
                      </a:r>
                      <a:r>
                        <a:rPr lang="ko-KR" altLang="en-US" sz="1200" b="1" dirty="0" smtClean="0"/>
                        <a:t>트렌드 민감성과 콘텐츠 자생력</a:t>
                      </a:r>
                      <a:r>
                        <a:rPr lang="en-US" altLang="ko-KR" sz="1200" b="1" dirty="0" smtClean="0"/>
                        <a:t>:</a:t>
                      </a:r>
                      <a:r>
                        <a:rPr lang="ko-KR" altLang="en-US" sz="1200" dirty="0" smtClean="0"/>
                        <a:t> 스스로 블로그나 </a:t>
                      </a:r>
                      <a:r>
                        <a:rPr lang="ko-KR" altLang="en-US" sz="1200" dirty="0" err="1" smtClean="0"/>
                        <a:t>링크드인</a:t>
                      </a:r>
                      <a:r>
                        <a:rPr lang="en-US" altLang="ko-KR" sz="1200" dirty="0" smtClean="0"/>
                        <a:t>(LinkedIn) </a:t>
                      </a:r>
                      <a:r>
                        <a:rPr lang="ko-KR" altLang="en-US" sz="1200" dirty="0" smtClean="0"/>
                        <a:t>계정을 활발히 운영해 본 경험자를 선호합니다</a:t>
                      </a:r>
                      <a:r>
                        <a:rPr lang="en-US" altLang="ko-KR" sz="1200" dirty="0" smtClean="0"/>
                        <a:t>.</a:t>
                      </a:r>
                    </a:p>
                    <a:p>
                      <a:r>
                        <a:rPr lang="en-US" altLang="ko-KR" sz="1200" b="1" dirty="0" smtClean="0"/>
                        <a:t>- </a:t>
                      </a:r>
                      <a:r>
                        <a:rPr lang="ko-KR" altLang="en-US" sz="1200" b="1" dirty="0" err="1" smtClean="0"/>
                        <a:t>생성형</a:t>
                      </a:r>
                      <a:r>
                        <a:rPr lang="ko-KR" altLang="en-US" sz="1200" b="1" dirty="0" smtClean="0"/>
                        <a:t> </a:t>
                      </a:r>
                      <a:r>
                        <a:rPr lang="en-US" altLang="ko-KR" sz="1200" b="1" dirty="0" smtClean="0"/>
                        <a:t>AI </a:t>
                      </a:r>
                      <a:r>
                        <a:rPr lang="ko-KR" altLang="en-US" sz="1200" b="1" dirty="0" smtClean="0"/>
                        <a:t>툴 활용 능력</a:t>
                      </a:r>
                      <a:r>
                        <a:rPr lang="en-US" altLang="ko-KR" sz="1200" b="1" dirty="0" smtClean="0"/>
                        <a:t>:</a:t>
                      </a:r>
                      <a:r>
                        <a:rPr lang="ko-KR" altLang="en-US" sz="1200" dirty="0" smtClean="0"/>
                        <a:t> </a:t>
                      </a:r>
                      <a:r>
                        <a:rPr lang="en-US" altLang="ko-KR" sz="1200" dirty="0" smtClean="0"/>
                        <a:t>'</a:t>
                      </a:r>
                      <a:r>
                        <a:rPr lang="ko-KR" altLang="en-US" sz="1200" dirty="0" err="1" smtClean="0"/>
                        <a:t>생성형</a:t>
                      </a:r>
                      <a:r>
                        <a:rPr lang="ko-KR" altLang="en-US" sz="1200" dirty="0" smtClean="0"/>
                        <a:t> </a:t>
                      </a:r>
                      <a:r>
                        <a:rPr lang="en-US" altLang="ko-KR" sz="1200" dirty="0" smtClean="0"/>
                        <a:t>AI </a:t>
                      </a:r>
                      <a:r>
                        <a:rPr lang="ko-KR" altLang="en-US" sz="1200" dirty="0" smtClean="0"/>
                        <a:t>플랫폼 </a:t>
                      </a:r>
                      <a:r>
                        <a:rPr lang="en-US" altLang="ko-KR" sz="1200" dirty="0" smtClean="0"/>
                        <a:t>1</a:t>
                      </a:r>
                      <a:r>
                        <a:rPr lang="ko-KR" altLang="en-US" sz="1200" dirty="0" smtClean="0"/>
                        <a:t>개 이상 유료 사용자</a:t>
                      </a:r>
                      <a:r>
                        <a:rPr lang="en-US" altLang="ko-KR" sz="1200" dirty="0" smtClean="0"/>
                        <a:t>'</a:t>
                      </a:r>
                      <a:r>
                        <a:rPr lang="ko-KR" altLang="en-US" sz="1200" dirty="0" smtClean="0"/>
                        <a:t>를 자격요건이나 필수적인 핵심 역량으로 명시하고 있습니다</a:t>
                      </a:r>
                      <a:r>
                        <a:rPr lang="en-US" altLang="ko-KR" sz="1200" dirty="0" smtClean="0"/>
                        <a:t>. </a:t>
                      </a:r>
                      <a:r>
                        <a:rPr lang="ko-KR" altLang="en-US" sz="1200" dirty="0" smtClean="0"/>
                        <a:t>업무에 </a:t>
                      </a:r>
                      <a:r>
                        <a:rPr lang="en-US" altLang="ko-KR" sz="1200" dirty="0" smtClean="0"/>
                        <a:t>AI </a:t>
                      </a:r>
                      <a:r>
                        <a:rPr lang="ko-KR" altLang="en-US" sz="1200" dirty="0" smtClean="0"/>
                        <a:t>기술을 적극적으로 녹여낼 수 있는 스마트한 일 처리 방식을 중시합니다</a:t>
                      </a:r>
                      <a:r>
                        <a:rPr lang="en-US" altLang="ko-KR" sz="1200" dirty="0" smtClean="0"/>
                        <a:t>.</a:t>
                      </a:r>
                    </a:p>
                    <a:p>
                      <a:r>
                        <a:rPr lang="en-US" altLang="ko-KR" sz="1200" b="1" dirty="0" smtClean="0"/>
                        <a:t>- </a:t>
                      </a:r>
                      <a:r>
                        <a:rPr lang="ko-KR" altLang="en-US" sz="1200" b="1" dirty="0" smtClean="0"/>
                        <a:t>비즈니스 툴 및 협업 능력</a:t>
                      </a:r>
                      <a:r>
                        <a:rPr lang="en-US" altLang="ko-KR" sz="1200" b="1" dirty="0" smtClean="0"/>
                        <a:t>:</a:t>
                      </a:r>
                      <a:r>
                        <a:rPr lang="ko-KR" altLang="en-US" sz="1200" dirty="0" smtClean="0"/>
                        <a:t> 구글 워크스페이스</a:t>
                      </a:r>
                      <a:r>
                        <a:rPr lang="en-US" altLang="ko-KR" sz="1200" dirty="0" smtClean="0"/>
                        <a:t>(</a:t>
                      </a:r>
                      <a:r>
                        <a:rPr lang="ko-KR" altLang="en-US" sz="1200" dirty="0" smtClean="0"/>
                        <a:t>프레젠테이션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스프레드시트</a:t>
                      </a:r>
                      <a:r>
                        <a:rPr lang="en-US" altLang="ko-KR" sz="1200" dirty="0" smtClean="0"/>
                        <a:t>), MS </a:t>
                      </a:r>
                      <a:r>
                        <a:rPr lang="ko-KR" altLang="en-US" sz="1200" dirty="0" smtClean="0"/>
                        <a:t>오피스 단축키 활용에 능숙하고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err="1" smtClean="0"/>
                        <a:t>노션</a:t>
                      </a:r>
                      <a:r>
                        <a:rPr lang="en-US" altLang="ko-KR" sz="1200" dirty="0" smtClean="0"/>
                        <a:t>(Notion)·</a:t>
                      </a:r>
                      <a:r>
                        <a:rPr lang="ko-KR" altLang="en-US" sz="1200" dirty="0" err="1" smtClean="0"/>
                        <a:t>슬랙</a:t>
                      </a:r>
                      <a:r>
                        <a:rPr lang="en-US" altLang="ko-KR" sz="1200" dirty="0" smtClean="0"/>
                        <a:t>(Slack)·</a:t>
                      </a:r>
                      <a:r>
                        <a:rPr lang="ko-KR" altLang="en-US" sz="1200" dirty="0" err="1" smtClean="0"/>
                        <a:t>디스코드</a:t>
                      </a:r>
                      <a:r>
                        <a:rPr lang="en-US" altLang="ko-KR" sz="1200" dirty="0" smtClean="0"/>
                        <a:t>(Discord) </a:t>
                      </a:r>
                      <a:r>
                        <a:rPr lang="ko-KR" altLang="en-US" sz="1200" dirty="0" smtClean="0"/>
                        <a:t>같은 협업 툴에 익숙한 인재를 찾습니다</a:t>
                      </a:r>
                      <a:r>
                        <a:rPr lang="en-US" altLang="ko-KR" sz="1200" dirty="0" smtClean="0"/>
                        <a:t>.</a:t>
                      </a:r>
                    </a:p>
                    <a:p>
                      <a:r>
                        <a:rPr lang="en-US" altLang="ko-KR" sz="1200" b="1" dirty="0" smtClean="0"/>
                        <a:t>- </a:t>
                      </a:r>
                      <a:r>
                        <a:rPr lang="ko-KR" altLang="en-US" sz="1200" b="1" dirty="0" smtClean="0"/>
                        <a:t>재무 및 시장 분석 관심도 </a:t>
                      </a:r>
                      <a:r>
                        <a:rPr lang="en-US" altLang="ko-KR" sz="1200" b="1" dirty="0" smtClean="0"/>
                        <a:t>(IR </a:t>
                      </a:r>
                      <a:r>
                        <a:rPr lang="ko-KR" altLang="en-US" sz="1200" b="1" dirty="0" err="1" smtClean="0"/>
                        <a:t>마케터</a:t>
                      </a:r>
                      <a:r>
                        <a:rPr lang="ko-KR" altLang="en-US" sz="1200" b="1" dirty="0" smtClean="0"/>
                        <a:t> 분야</a:t>
                      </a:r>
                      <a:r>
                        <a:rPr lang="en-US" altLang="ko-KR" sz="1200" b="1" dirty="0" smtClean="0"/>
                        <a:t>):</a:t>
                      </a:r>
                      <a:r>
                        <a:rPr lang="ko-KR" altLang="en-US" sz="1200" dirty="0" smtClean="0"/>
                        <a:t> 일간지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경제지를 정기 구독하거나 기본 재무제표 용어를 이해하고 분석할 수 있는 논리적 </a:t>
                      </a:r>
                      <a:r>
                        <a:rPr lang="ko-KR" altLang="en-US" sz="1200" dirty="0" err="1" smtClean="0"/>
                        <a:t>마케터를</a:t>
                      </a:r>
                      <a:r>
                        <a:rPr lang="ko-KR" altLang="en-US" sz="1200" dirty="0" smtClean="0"/>
                        <a:t> 우대합니다</a:t>
                      </a:r>
                      <a:r>
                        <a:rPr lang="en-US" altLang="ko-KR" sz="1200" dirty="0" smtClean="0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514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최근 동향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1" dirty="0" smtClean="0"/>
                        <a:t>- </a:t>
                      </a:r>
                      <a:r>
                        <a:rPr lang="ko-KR" altLang="en-US" sz="1200" b="1" dirty="0" smtClean="0"/>
                        <a:t>온라인 </a:t>
                      </a:r>
                      <a:r>
                        <a:rPr lang="en-US" altLang="ko-KR" sz="1200" b="1" dirty="0" smtClean="0"/>
                        <a:t>IR/IPR </a:t>
                      </a:r>
                      <a:r>
                        <a:rPr lang="ko-KR" altLang="en-US" sz="1200" b="1" dirty="0" smtClean="0"/>
                        <a:t>영역 확장</a:t>
                      </a:r>
                      <a:r>
                        <a:rPr lang="en-US" altLang="ko-KR" sz="1200" b="1" dirty="0" smtClean="0"/>
                        <a:t>:</a:t>
                      </a:r>
                      <a:r>
                        <a:rPr lang="ko-KR" altLang="en-US" sz="1200" dirty="0" smtClean="0"/>
                        <a:t> 단순한 </a:t>
                      </a:r>
                      <a:r>
                        <a:rPr lang="en-US" altLang="ko-KR" sz="1200" dirty="0" smtClean="0"/>
                        <a:t>SNS </a:t>
                      </a:r>
                      <a:r>
                        <a:rPr lang="ko-KR" altLang="en-US" sz="1200" dirty="0" smtClean="0"/>
                        <a:t>대행을 넘어 기업의 투자 유치 마케팅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err="1" smtClean="0"/>
                        <a:t>링크드인</a:t>
                      </a:r>
                      <a:r>
                        <a:rPr lang="ko-KR" altLang="en-US" sz="1200" dirty="0" smtClean="0"/>
                        <a:t> 기반의 </a:t>
                      </a:r>
                      <a:r>
                        <a:rPr lang="en-US" altLang="ko-KR" sz="1200" dirty="0" smtClean="0"/>
                        <a:t>B2B </a:t>
                      </a:r>
                      <a:r>
                        <a:rPr lang="ko-KR" altLang="en-US" sz="1200" dirty="0" smtClean="0"/>
                        <a:t>커뮤니케이션 대행 등으로 비즈니스 도메인을 확장하고 있습니다</a:t>
                      </a:r>
                      <a:r>
                        <a:rPr lang="en-US" altLang="ko-KR" sz="1200" dirty="0" smtClean="0"/>
                        <a:t>.</a:t>
                      </a:r>
                    </a:p>
                    <a:p>
                      <a:r>
                        <a:rPr lang="en-US" altLang="ko-KR" sz="1200" b="1" dirty="0" smtClean="0"/>
                        <a:t>- </a:t>
                      </a:r>
                      <a:r>
                        <a:rPr lang="ko-KR" altLang="en-US" sz="1200" b="1" dirty="0" smtClean="0"/>
                        <a:t>유연하고 자율적인 근무 환경</a:t>
                      </a:r>
                      <a:r>
                        <a:rPr lang="en-US" altLang="ko-KR" sz="1200" b="1" dirty="0" smtClean="0"/>
                        <a:t>:</a:t>
                      </a:r>
                      <a:r>
                        <a:rPr lang="ko-KR" altLang="en-US" sz="1200" dirty="0" smtClean="0"/>
                        <a:t> 직무 및 근속 연수</a:t>
                      </a:r>
                      <a:r>
                        <a:rPr lang="en-US" altLang="ko-KR" sz="1200" dirty="0" smtClean="0"/>
                        <a:t>(</a:t>
                      </a:r>
                      <a:r>
                        <a:rPr lang="ko-KR" altLang="en-US" sz="1200" dirty="0" smtClean="0"/>
                        <a:t>예</a:t>
                      </a:r>
                      <a:r>
                        <a:rPr lang="en-US" altLang="ko-KR" sz="1200" dirty="0" smtClean="0"/>
                        <a:t>: 1</a:t>
                      </a:r>
                      <a:r>
                        <a:rPr lang="ko-KR" altLang="en-US" sz="1200" dirty="0" smtClean="0"/>
                        <a:t>년 이상</a:t>
                      </a:r>
                      <a:r>
                        <a:rPr lang="en-US" altLang="ko-KR" sz="1200" dirty="0" smtClean="0"/>
                        <a:t>)</a:t>
                      </a:r>
                      <a:r>
                        <a:rPr lang="ko-KR" altLang="en-US" sz="1200" dirty="0" smtClean="0"/>
                        <a:t>에 따라 </a:t>
                      </a:r>
                      <a:r>
                        <a:rPr lang="ko-KR" altLang="en-US" sz="1200" b="1" dirty="0" smtClean="0"/>
                        <a:t>완전 재택근무 전환이 가능</a:t>
                      </a:r>
                      <a:r>
                        <a:rPr lang="ko-KR" altLang="en-US" sz="1200" dirty="0" smtClean="0"/>
                        <a:t>한 유연한 근무 형태를 도입하고 있습니다</a:t>
                      </a:r>
                      <a:r>
                        <a:rPr lang="en-US" altLang="ko-KR" sz="1200" dirty="0" smtClean="0"/>
                        <a:t>. </a:t>
                      </a:r>
                      <a:r>
                        <a:rPr lang="ko-KR" altLang="en-US" sz="1200" dirty="0" smtClean="0"/>
                        <a:t>복장 역시 모자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반바지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슬리퍼가 허용되는 완전 자율 형태입니다</a:t>
                      </a:r>
                      <a:r>
                        <a:rPr lang="en-US" altLang="ko-KR" sz="1200" dirty="0" smtClean="0"/>
                        <a:t>.</a:t>
                      </a:r>
                    </a:p>
                    <a:p>
                      <a:r>
                        <a:rPr lang="en-US" altLang="ko-KR" sz="1200" b="1" dirty="0" smtClean="0"/>
                        <a:t>- </a:t>
                      </a:r>
                      <a:r>
                        <a:rPr lang="ko-KR" altLang="en-US" sz="1200" b="1" dirty="0" smtClean="0"/>
                        <a:t>성장 지원제도</a:t>
                      </a:r>
                      <a:r>
                        <a:rPr lang="en-US" altLang="ko-KR" sz="1200" b="1" dirty="0" smtClean="0"/>
                        <a:t>:</a:t>
                      </a:r>
                      <a:r>
                        <a:rPr lang="ko-KR" altLang="en-US" sz="1200" dirty="0" smtClean="0"/>
                        <a:t> 클래스</a:t>
                      </a:r>
                      <a:r>
                        <a:rPr lang="en-US" altLang="ko-KR" sz="1200" dirty="0" smtClean="0"/>
                        <a:t>101, </a:t>
                      </a:r>
                      <a:r>
                        <a:rPr lang="ko-KR" altLang="en-US" sz="1200" dirty="0" smtClean="0"/>
                        <a:t>폴인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밀리의 서재 등 온라인 교육 </a:t>
                      </a:r>
                      <a:r>
                        <a:rPr lang="ko-KR" altLang="en-US" sz="1200" dirty="0" err="1" smtClean="0"/>
                        <a:t>구독권을</a:t>
                      </a:r>
                      <a:r>
                        <a:rPr lang="ko-KR" altLang="en-US" sz="1200" dirty="0" smtClean="0"/>
                        <a:t> 지원하며</a:t>
                      </a:r>
                      <a:r>
                        <a:rPr lang="en-US" altLang="ko-KR" sz="1200" dirty="0" smtClean="0"/>
                        <a:t>, 3</a:t>
                      </a:r>
                      <a:r>
                        <a:rPr lang="ko-KR" altLang="en-US" sz="1200" dirty="0" smtClean="0"/>
                        <a:t>년 이상 장기 근속 시 창업이나 대학원 진학을 위한 무이자 대출</a:t>
                      </a:r>
                      <a:r>
                        <a:rPr lang="en-US" altLang="ko-KR" sz="1200" dirty="0" smtClean="0"/>
                        <a:t>(1,000</a:t>
                      </a:r>
                      <a:r>
                        <a:rPr lang="ko-KR" altLang="en-US" sz="1200" dirty="0" smtClean="0"/>
                        <a:t>만</a:t>
                      </a:r>
                      <a:r>
                        <a:rPr lang="en-US" altLang="ko-KR" sz="1200" dirty="0" smtClean="0"/>
                        <a:t>~3,000</a:t>
                      </a:r>
                      <a:r>
                        <a:rPr lang="ko-KR" altLang="en-US" sz="1200" dirty="0" smtClean="0"/>
                        <a:t>만 원</a:t>
                      </a:r>
                      <a:r>
                        <a:rPr lang="en-US" altLang="ko-KR" sz="1200" dirty="0" smtClean="0"/>
                        <a:t>)</a:t>
                      </a:r>
                      <a:r>
                        <a:rPr lang="ko-KR" altLang="en-US" sz="1200" dirty="0" smtClean="0"/>
                        <a:t>이라는 독특한 복지 제도를 운영 중입니다</a:t>
                      </a:r>
                      <a:r>
                        <a:rPr lang="en-US" altLang="ko-KR" sz="1200" dirty="0" smtClean="0"/>
                        <a:t>.</a:t>
                      </a:r>
                      <a:endParaRPr lang="en-US" altLang="ko-KR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908569" y="741622"/>
            <a:ext cx="432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b="1" dirty="0">
                <a:latin typeface="+mn-ea"/>
              </a:rPr>
              <a:t>기업 정보 탐색  </a:t>
            </a:r>
          </a:p>
        </p:txBody>
      </p:sp>
      <p:sp>
        <p:nvSpPr>
          <p:cNvPr id="4" name="TextBox 17"/>
          <p:cNvSpPr txBox="1">
            <a:spLocks noChangeArrowheads="1"/>
          </p:cNvSpPr>
          <p:nvPr/>
        </p:nvSpPr>
        <p:spPr bwMode="auto">
          <a:xfrm>
            <a:off x="4743450" y="406400"/>
            <a:ext cx="484759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kumimoji="0" lang="en-US" altLang="ko-KR" sz="1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2.</a:t>
            </a:r>
            <a:r>
              <a:rPr kumimoji="0" lang="ko-KR" altLang="en-US" sz="1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직무 이해 및 기업 분석  </a:t>
            </a:r>
          </a:p>
        </p:txBody>
      </p:sp>
    </p:spTree>
    <p:extLst>
      <p:ext uri="{BB962C8B-B14F-4D97-AF65-F5344CB8AC3E}">
        <p14:creationId xmlns:p14="http://schemas.microsoft.com/office/powerpoint/2010/main" val="1321355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501908"/>
              </p:ext>
            </p:extLst>
          </p:nvPr>
        </p:nvGraphicFramePr>
        <p:xfrm>
          <a:off x="5031656" y="1504234"/>
          <a:ext cx="6228332" cy="36338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89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8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채용 공고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EF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내용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E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999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채용 시기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999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지원 자격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999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평균 자격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999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우대조건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8999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근무지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17"/>
          <p:cNvSpPr txBox="1">
            <a:spLocks noChangeArrowheads="1"/>
          </p:cNvSpPr>
          <p:nvPr/>
        </p:nvSpPr>
        <p:spPr bwMode="auto">
          <a:xfrm>
            <a:off x="4743450" y="406400"/>
            <a:ext cx="484759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kumimoji="0" lang="en-US" altLang="ko-KR" sz="1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2.</a:t>
            </a:r>
            <a:r>
              <a:rPr kumimoji="0" lang="ko-KR" altLang="en-US" sz="1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직무 이해 및 기업 분석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4684" y="973851"/>
            <a:ext cx="432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b="1" dirty="0">
                <a:latin typeface="+mn-ea"/>
              </a:rPr>
              <a:t>채용 공고 분석 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8030212"/>
              </p:ext>
            </p:extLst>
          </p:nvPr>
        </p:nvGraphicFramePr>
        <p:xfrm>
          <a:off x="4996317" y="5558974"/>
          <a:ext cx="6228332" cy="279967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89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54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구분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EF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내용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E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04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지원 절차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04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어학성적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04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직무적성검사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04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면접 절차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7692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887640" y="251520"/>
            <a:ext cx="6480720" cy="8640960"/>
          </a:xfrm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txBody>
          <a:bodyPr>
            <a:noAutofit/>
          </a:bodyPr>
          <a:lstStyle/>
          <a:p>
            <a:pPr algn="l"/>
            <a:r>
              <a:rPr lang="ko-KR" altLang="en-US" sz="2800" dirty="0">
                <a:latin typeface="HY얕은샘물M" panose="02030600000101010101" pitchFamily="18" charset="-127"/>
                <a:ea typeface="HY얕은샘물M" panose="02030600000101010101" pitchFamily="18" charset="-127"/>
              </a:rPr>
              <a:t/>
            </a:r>
            <a:br>
              <a:rPr lang="ko-KR" altLang="en-US" sz="2800" dirty="0">
                <a:latin typeface="HY얕은샘물M" panose="02030600000101010101" pitchFamily="18" charset="-127"/>
                <a:ea typeface="HY얕은샘물M" panose="02030600000101010101" pitchFamily="18" charset="-127"/>
              </a:rPr>
            </a:br>
            <a:r>
              <a:rPr lang="ko-KR" altLang="en-US" sz="3200" dirty="0">
                <a:latin typeface="HY얕은샘물M" panose="02030600000101010101" pitchFamily="18" charset="-127"/>
                <a:ea typeface="HY얕은샘물M" panose="02030600000101010101" pitchFamily="18" charset="-127"/>
              </a:rPr>
              <a:t> </a:t>
            </a:r>
            <a:br>
              <a:rPr lang="ko-KR" altLang="en-US" sz="3200" dirty="0">
                <a:latin typeface="HY얕은샘물M" panose="02030600000101010101" pitchFamily="18" charset="-127"/>
                <a:ea typeface="HY얕은샘물M" panose="02030600000101010101" pitchFamily="18" charset="-127"/>
              </a:rPr>
            </a:br>
            <a:endParaRPr lang="ko-KR" altLang="en-US" sz="3200" dirty="0">
              <a:latin typeface="HY얕은샘물M" panose="02030600000101010101" pitchFamily="18" charset="-127"/>
              <a:ea typeface="HY얕은샘물M" panose="02030600000101010101" pitchFamily="18" charset="-127"/>
            </a:endParaRPr>
          </a:p>
        </p:txBody>
      </p:sp>
      <p:sp>
        <p:nvSpPr>
          <p:cNvPr id="9" name="TextBox 17"/>
          <p:cNvSpPr txBox="1">
            <a:spLocks noChangeArrowheads="1"/>
          </p:cNvSpPr>
          <p:nvPr/>
        </p:nvSpPr>
        <p:spPr bwMode="auto">
          <a:xfrm>
            <a:off x="4932136" y="406400"/>
            <a:ext cx="484759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kumimoji="0" lang="en-US" altLang="ko-KR" sz="16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3. </a:t>
            </a:r>
            <a:r>
              <a:rPr kumimoji="0" lang="ko-KR" altLang="en-US" sz="16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취업 전략 </a:t>
            </a:r>
            <a:r>
              <a:rPr kumimoji="0" lang="en-US" altLang="ko-KR" sz="16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</a:t>
            </a:r>
            <a:r>
              <a:rPr kumimoji="0" lang="ko-KR" altLang="en-US" sz="16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자기소개서 경험 정리  </a:t>
            </a:r>
            <a:r>
              <a:rPr kumimoji="0" lang="en-US" altLang="ko-KR" sz="16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 </a:t>
            </a:r>
            <a:r>
              <a:rPr kumimoji="0" lang="ko-KR" altLang="en-US" sz="16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322622"/>
              </p:ext>
            </p:extLst>
          </p:nvPr>
        </p:nvGraphicFramePr>
        <p:xfrm>
          <a:off x="5150576" y="1207770"/>
          <a:ext cx="5754914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54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나의 성공 경험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(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목표 달성 경험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) 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042026"/>
              </p:ext>
            </p:extLst>
          </p:nvPr>
        </p:nvGraphicFramePr>
        <p:xfrm>
          <a:off x="5131526" y="4926330"/>
          <a:ext cx="5754914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54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팀워크를 잘 발휘했었던 경험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7229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9911</TotalTime>
  <Words>2236</Words>
  <Application>Microsoft Office PowerPoint</Application>
  <PresentationFormat>사용자 지정</PresentationFormat>
  <Paragraphs>262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1" baseType="lpstr">
      <vt:lpstr>맑은 고딕</vt:lpstr>
      <vt:lpstr>Wingdings</vt:lpstr>
      <vt:lpstr>Arial</vt:lpstr>
      <vt:lpstr>HY얕은샘물M</vt:lpstr>
      <vt:lpstr>Calibri</vt:lpstr>
      <vt:lpstr>나눔고딕</vt:lpstr>
      <vt:lpstr>Calibri Light</vt:lpstr>
      <vt:lpstr>나눔고딕 ExtraBold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user011</dc:creator>
  <cp:lastModifiedBy>Admin</cp:lastModifiedBy>
  <cp:revision>714</cp:revision>
  <cp:lastPrinted>2016-01-11T06:51:22Z</cp:lastPrinted>
  <dcterms:created xsi:type="dcterms:W3CDTF">2015-09-15T00:48:04Z</dcterms:created>
  <dcterms:modified xsi:type="dcterms:W3CDTF">2026-06-19T08:40:53Z</dcterms:modified>
</cp:coreProperties>
</file>